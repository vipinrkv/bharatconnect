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112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3D564-0A05-E6AE-8316-496047F70F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BB25B7-D245-9C01-BA20-6C534EAAD2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FE4C57-8316-4471-EA7C-949FAF050648}"/>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5" name="Footer Placeholder 4">
            <a:extLst>
              <a:ext uri="{FF2B5EF4-FFF2-40B4-BE49-F238E27FC236}">
                <a16:creationId xmlns:a16="http://schemas.microsoft.com/office/drawing/2014/main" id="{9569429D-7BE2-6C68-7551-12C4053D84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7F577B-0410-1612-F612-1C2A281A95EB}"/>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2925997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FEC37-9082-3043-CE69-B1C5F58D6E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B99FDA-2D27-3984-CD96-74C9FBF794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BCA965-9336-8867-F4B3-0526C5B9D950}"/>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5" name="Footer Placeholder 4">
            <a:extLst>
              <a:ext uri="{FF2B5EF4-FFF2-40B4-BE49-F238E27FC236}">
                <a16:creationId xmlns:a16="http://schemas.microsoft.com/office/drawing/2014/main" id="{44D2A9FC-4262-D789-BB07-D6C6E4214C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F9B6CB-682D-AF7E-ABD6-F0C505720F59}"/>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2403180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11720-3499-900A-F4DD-0E8A90BFEC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3FF162E-9837-6CCC-C21A-9B9DC1C11D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34315F-B0DF-35A5-C8E8-E9BA983E0107}"/>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5" name="Footer Placeholder 4">
            <a:extLst>
              <a:ext uri="{FF2B5EF4-FFF2-40B4-BE49-F238E27FC236}">
                <a16:creationId xmlns:a16="http://schemas.microsoft.com/office/drawing/2014/main" id="{7A5C1531-1C75-6A2B-BE70-47E00CE460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DD42B1-9E5E-7DE7-6D7D-32FD54B9AFBB}"/>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1570972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BF18E-7166-BAF3-D3AA-1825A0FBB4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5D2CD4-9B73-D194-8081-8705B3C76B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9ED5D6-74A2-5965-7017-1B5B1A8AE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1F25B2-B670-23A7-4365-FC47A39F5456}"/>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6" name="Footer Placeholder 5">
            <a:extLst>
              <a:ext uri="{FF2B5EF4-FFF2-40B4-BE49-F238E27FC236}">
                <a16:creationId xmlns:a16="http://schemas.microsoft.com/office/drawing/2014/main" id="{6B994EC1-7950-81B8-796D-280BC5FC2E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C274FC-35F8-2317-5BD4-41B0FACCEFA1}"/>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1701488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7AD7D-1BBF-C5D1-BA61-C993A64960F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4CC305-922C-FC2D-6B81-5590A96A24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F9B045-35F0-3E79-CD8A-5E4DCAA8B5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131F61-26DC-C3A5-D59F-98A3C476DE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3EE853-9182-DBB1-992F-1302B5220A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EDC5FF-99D1-070B-95D5-A825C8CA63CD}"/>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8" name="Footer Placeholder 7">
            <a:extLst>
              <a:ext uri="{FF2B5EF4-FFF2-40B4-BE49-F238E27FC236}">
                <a16:creationId xmlns:a16="http://schemas.microsoft.com/office/drawing/2014/main" id="{5369C8AC-344B-15B6-AAF5-011EC51074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FC5BFB-8E84-F779-36CB-365C33C284AF}"/>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2395710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0C4B8-9BDF-1EBC-6C9C-447F123CCC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278252-859A-7C35-0793-1BDDD6DC539B}"/>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4" name="Footer Placeholder 3">
            <a:extLst>
              <a:ext uri="{FF2B5EF4-FFF2-40B4-BE49-F238E27FC236}">
                <a16:creationId xmlns:a16="http://schemas.microsoft.com/office/drawing/2014/main" id="{8EDDC5D2-8EDA-D26C-51A4-AF61DBE105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7D31645-28D2-FD9F-C694-CBD76C9399A6}"/>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398919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1C5436-1892-D163-1FE4-0B56EF8D391C}"/>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3" name="Footer Placeholder 2">
            <a:extLst>
              <a:ext uri="{FF2B5EF4-FFF2-40B4-BE49-F238E27FC236}">
                <a16:creationId xmlns:a16="http://schemas.microsoft.com/office/drawing/2014/main" id="{18384852-3C2C-B252-E6D3-3D5693DC6E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6C0750-8BDF-2887-6B67-8DCCFA303B6A}"/>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536871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C20BB-934C-F09B-0FA1-A2109CB113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B7A111-BDED-C9EB-7318-F5533B3ECD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228DB2-DAF6-822B-4C32-1B9C287F2F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150E2-FCE2-D973-DA47-CA7D215162CE}"/>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6" name="Footer Placeholder 5">
            <a:extLst>
              <a:ext uri="{FF2B5EF4-FFF2-40B4-BE49-F238E27FC236}">
                <a16:creationId xmlns:a16="http://schemas.microsoft.com/office/drawing/2014/main" id="{9D7A3DF6-84FF-6285-5058-85B867D164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A6E5D5-DB7A-8AAA-0AA1-E0245C453D4B}"/>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2523109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F86DC-9487-2B72-877E-E2D73559F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2203DE-309E-DC90-A0A6-2121618FD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E103FE-8074-9244-5FCE-B88605BE28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D213A8-040E-D4E5-1A29-E1192170E5BE}"/>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6" name="Footer Placeholder 5">
            <a:extLst>
              <a:ext uri="{FF2B5EF4-FFF2-40B4-BE49-F238E27FC236}">
                <a16:creationId xmlns:a16="http://schemas.microsoft.com/office/drawing/2014/main" id="{45F402B7-2FD8-126B-4D22-31BAEB2452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CBEC63-FBBE-B4BB-9DDD-8A1FA558496F}"/>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2033065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CB73D-ADF6-D3A1-D315-DF751E8ABA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A9B2F7-B7F9-50B2-1A6F-72933D9FCC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079866-0750-DFDB-FC6B-F73DD04D90DD}"/>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5" name="Footer Placeholder 4">
            <a:extLst>
              <a:ext uri="{FF2B5EF4-FFF2-40B4-BE49-F238E27FC236}">
                <a16:creationId xmlns:a16="http://schemas.microsoft.com/office/drawing/2014/main" id="{C4582C01-812B-0CE4-AAF0-55AD82044C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638CEC-E350-59F4-0E14-B90B9F3489F8}"/>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142681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089E51-3B52-72AE-BA33-BC8F62CF38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5B47C7-9AAD-04D8-3CA7-8FD18059F9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76D16F-364B-651B-32C0-91D9E584E430}"/>
              </a:ext>
            </a:extLst>
          </p:cNvPr>
          <p:cNvSpPr>
            <a:spLocks noGrp="1"/>
          </p:cNvSpPr>
          <p:nvPr>
            <p:ph type="dt" sz="half" idx="10"/>
          </p:nvPr>
        </p:nvSpPr>
        <p:spPr/>
        <p:txBody>
          <a:bodyPr/>
          <a:lstStyle/>
          <a:p>
            <a:fld id="{8B9756B6-771E-44CA-9727-C8C0604F1FEF}" type="datetimeFigureOut">
              <a:rPr lang="en-IN" smtClean="0"/>
              <a:t>20-09-2026</a:t>
            </a:fld>
            <a:endParaRPr lang="en-IN"/>
          </a:p>
        </p:txBody>
      </p:sp>
      <p:sp>
        <p:nvSpPr>
          <p:cNvPr id="5" name="Footer Placeholder 4">
            <a:extLst>
              <a:ext uri="{FF2B5EF4-FFF2-40B4-BE49-F238E27FC236}">
                <a16:creationId xmlns:a16="http://schemas.microsoft.com/office/drawing/2014/main" id="{D2FAD271-F310-528D-A68E-85692E66D4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6AE6DE-7E95-5513-EB76-E9A54B6BD32C}"/>
              </a:ext>
            </a:extLst>
          </p:cNvPr>
          <p:cNvSpPr>
            <a:spLocks noGrp="1"/>
          </p:cNvSpPr>
          <p:nvPr>
            <p:ph type="sldNum" sz="quarter" idx="12"/>
          </p:nvPr>
        </p:nvSpPr>
        <p:spPr/>
        <p:txBody>
          <a:bodyPr/>
          <a:lstStyle/>
          <a:p>
            <a:fld id="{55F1ABC4-713C-42BC-AF96-639BC388F28E}" type="slidenum">
              <a:rPr lang="en-IN" smtClean="0"/>
              <a:t>‹#›</a:t>
            </a:fld>
            <a:endParaRPr lang="en-IN"/>
          </a:p>
        </p:txBody>
      </p:sp>
    </p:spTree>
    <p:extLst>
      <p:ext uri="{BB962C8B-B14F-4D97-AF65-F5344CB8AC3E}">
        <p14:creationId xmlns:p14="http://schemas.microsoft.com/office/powerpoint/2010/main" val="140983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911063-CF19-AEBD-03E5-252A5D09EE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A9C7AB-6954-F080-4078-8A7FD4652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48A4FE-36B9-59F9-5D66-AC572051B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9756B6-771E-44CA-9727-C8C0604F1FEF}" type="datetimeFigureOut">
              <a:rPr lang="en-IN" smtClean="0"/>
              <a:t>20-09-2026</a:t>
            </a:fld>
            <a:endParaRPr lang="en-IN"/>
          </a:p>
        </p:txBody>
      </p:sp>
      <p:sp>
        <p:nvSpPr>
          <p:cNvPr id="5" name="Footer Placeholder 4">
            <a:extLst>
              <a:ext uri="{FF2B5EF4-FFF2-40B4-BE49-F238E27FC236}">
                <a16:creationId xmlns:a16="http://schemas.microsoft.com/office/drawing/2014/main" id="{F839A8C7-43A9-8B42-F53D-F0F356CF5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BA5F6B-47AC-29FD-A942-28F4E62863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F1ABC4-713C-42BC-AF96-639BC388F28E}" type="slidenum">
              <a:rPr lang="en-IN" smtClean="0"/>
              <a:t>‹#›</a:t>
            </a:fld>
            <a:endParaRPr lang="en-IN"/>
          </a:p>
        </p:txBody>
      </p:sp>
    </p:spTree>
    <p:extLst>
      <p:ext uri="{BB962C8B-B14F-4D97-AF65-F5344CB8AC3E}">
        <p14:creationId xmlns:p14="http://schemas.microsoft.com/office/powerpoint/2010/main" val="112229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4E11B0-A3DF-6CB1-537E-80B63C3CFCAD}"/>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827FA879-BD66-9F5D-9BE5-CC5519FB44FF}"/>
              </a:ext>
            </a:extLst>
          </p:cNvPr>
          <p:cNvSpPr/>
          <p:nvPr/>
        </p:nvSpPr>
        <p:spPr>
          <a:xfrm>
            <a:off x="0" y="0"/>
            <a:ext cx="12192000" cy="76200"/>
          </a:xfrm>
          <a:prstGeom prst="rect">
            <a:avLst/>
          </a:prstGeom>
          <a:solidFill>
            <a:srgbClr val="FF7F1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5D911F39-0CD0-725A-4C56-EBBA9300F598}"/>
              </a:ext>
            </a:extLst>
          </p:cNvPr>
          <p:cNvSpPr/>
          <p:nvPr/>
        </p:nvSpPr>
        <p:spPr>
          <a:xfrm>
            <a:off x="0" y="6781800"/>
            <a:ext cx="12192000" cy="76200"/>
          </a:xfrm>
          <a:prstGeom prst="rect">
            <a:avLst/>
          </a:prstGeom>
          <a:solidFill>
            <a:srgbClr val="00C49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67F9276E-EA7C-7878-277B-8856E0B22746}"/>
              </a:ext>
            </a:extLst>
          </p:cNvPr>
          <p:cNvSpPr/>
          <p:nvPr/>
        </p:nvSpPr>
        <p:spPr>
          <a:xfrm>
            <a:off x="635000" y="698500"/>
            <a:ext cx="4318000" cy="355600"/>
          </a:xfrm>
          <a:prstGeom prst="roundRect">
            <a:avLst/>
          </a:prstGeom>
          <a:solidFill>
            <a:srgbClr val="121E42"/>
          </a:solidFill>
          <a:ln w="12700">
            <a:solidFill>
              <a:srgbClr val="FF7F1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7F11"/>
                </a:solidFill>
                <a:latin typeface="Segoe UI" panose="020B0502040204020203" pitchFamily="34" charset="0"/>
              </a:rPr>
              <a:t>🇮🇳  ATMANIRBHAR BHARAT • INDEPENDENT DIGITAL INFRASTRUCTURE</a:t>
            </a:r>
          </a:p>
        </p:txBody>
      </p:sp>
      <p:sp>
        <p:nvSpPr>
          <p:cNvPr id="6" name="TextBox 5">
            <a:extLst>
              <a:ext uri="{FF2B5EF4-FFF2-40B4-BE49-F238E27FC236}">
                <a16:creationId xmlns:a16="http://schemas.microsoft.com/office/drawing/2014/main" id="{709B7892-D312-5CA6-5470-268A836694E0}"/>
              </a:ext>
            </a:extLst>
          </p:cNvPr>
          <p:cNvSpPr txBox="1"/>
          <p:nvPr/>
        </p:nvSpPr>
        <p:spPr>
          <a:xfrm>
            <a:off x="635000" y="1206500"/>
            <a:ext cx="10922000" cy="707886"/>
          </a:xfrm>
          <a:prstGeom prst="rect">
            <a:avLst/>
          </a:prstGeom>
          <a:noFill/>
        </p:spPr>
        <p:txBody>
          <a:bodyPr vert="horz" lIns="0" tIns="0" rIns="0" bIns="0" rtlCol="0">
            <a:spAutoFit/>
          </a:bodyPr>
          <a:lstStyle/>
          <a:p>
            <a:r>
              <a:rPr lang="en-IN" sz="4600" b="1">
                <a:solidFill>
                  <a:srgbClr val="FFFFFF"/>
                </a:solidFill>
                <a:latin typeface="Segoe UI" panose="020B0502040204020203" pitchFamily="34" charset="0"/>
              </a:rPr>
              <a:t>BHARATCONNECT</a:t>
            </a:r>
          </a:p>
        </p:txBody>
      </p:sp>
      <p:sp>
        <p:nvSpPr>
          <p:cNvPr id="7" name="TextBox 6">
            <a:extLst>
              <a:ext uri="{FF2B5EF4-FFF2-40B4-BE49-F238E27FC236}">
                <a16:creationId xmlns:a16="http://schemas.microsoft.com/office/drawing/2014/main" id="{992B30DE-FE1F-8E38-9BDA-82C344BC73D8}"/>
              </a:ext>
            </a:extLst>
          </p:cNvPr>
          <p:cNvSpPr txBox="1"/>
          <p:nvPr/>
        </p:nvSpPr>
        <p:spPr>
          <a:xfrm>
            <a:off x="635000" y="2286000"/>
            <a:ext cx="10922000" cy="523220"/>
          </a:xfrm>
          <a:prstGeom prst="rect">
            <a:avLst/>
          </a:prstGeom>
          <a:noFill/>
        </p:spPr>
        <p:txBody>
          <a:bodyPr vert="horz" lIns="0" tIns="0" rIns="0" bIns="0" rtlCol="0">
            <a:spAutoFit/>
          </a:bodyPr>
          <a:lstStyle/>
          <a:p>
            <a:r>
              <a:rPr lang="en-US" sz="1700">
                <a:solidFill>
                  <a:srgbClr val="00B4D8"/>
                </a:solidFill>
                <a:latin typeface="Segoe UI" panose="020B0502040204020203" pitchFamily="34" charset="0"/>
              </a:rPr>
              <a:t>India's Sovereign Hyper-Local Social Mesh, Real-Time Encrypted Messaging
&amp; Decentralized Community Commerce Engine</a:t>
            </a:r>
            <a:endParaRPr lang="en-IN" sz="1700">
              <a:solidFill>
                <a:srgbClr val="00B4D8"/>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63EAA5E1-7086-0127-C7B4-ECB856046416}"/>
              </a:ext>
            </a:extLst>
          </p:cNvPr>
          <p:cNvSpPr/>
          <p:nvPr/>
        </p:nvSpPr>
        <p:spPr>
          <a:xfrm>
            <a:off x="635000" y="3365500"/>
            <a:ext cx="2641600" cy="1778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52400" tIns="152400" rIns="152400" bIns="152400" rtlCol="0" anchor="ctr"/>
          <a:lstStyle/>
          <a:p>
            <a:pPr algn="ctr"/>
            <a:r>
              <a:rPr lang="en-IN" sz="1050" b="1">
                <a:solidFill>
                  <a:srgbClr val="FFC300"/>
                </a:solidFill>
                <a:latin typeface="Segoe UI" panose="020B0502040204020203" pitchFamily="34" charset="0"/>
              </a:rPr>
              <a:t>📱 NATIVE PERFORMANCE
</a:t>
            </a:r>
            <a:r>
              <a:rPr lang="en-IN" sz="1000">
                <a:solidFill>
                  <a:srgbClr val="A0AEC0"/>
                </a:solidFill>
                <a:latin typeface="Segoe UI" panose="020B0502040204020203" pitchFamily="34" charset="0"/>
              </a:rPr>
              <a:t>
Jetpack Compose M3
60/120 FPS Fluid UI
Ultra-Light (&lt; 25 MB)</a:t>
            </a:r>
          </a:p>
        </p:txBody>
      </p:sp>
      <p:sp>
        <p:nvSpPr>
          <p:cNvPr id="9" name="Rectangle: Rounded Corners 8">
            <a:extLst>
              <a:ext uri="{FF2B5EF4-FFF2-40B4-BE49-F238E27FC236}">
                <a16:creationId xmlns:a16="http://schemas.microsoft.com/office/drawing/2014/main" id="{4E128388-55C2-C0B0-43E2-9AC763A7EBE8}"/>
              </a:ext>
            </a:extLst>
          </p:cNvPr>
          <p:cNvSpPr/>
          <p:nvPr/>
        </p:nvSpPr>
        <p:spPr>
          <a:xfrm>
            <a:off x="3403600" y="3365500"/>
            <a:ext cx="2641600" cy="1778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52400" tIns="152400" rIns="152400" bIns="152400" rtlCol="0" anchor="ctr"/>
          <a:lstStyle/>
          <a:p>
            <a:pPr algn="ctr"/>
            <a:r>
              <a:rPr lang="en-IN" sz="1050" b="1">
                <a:solidFill>
                  <a:srgbClr val="00C49F"/>
                </a:solidFill>
                <a:latin typeface="Segoe UI" panose="020B0502040204020203" pitchFamily="34" charset="0"/>
              </a:rPr>
              <a:t>🛡️ MILITARY-GRADE E2EE
</a:t>
            </a:r>
            <a:r>
              <a:rPr lang="en-IN" sz="1000">
                <a:solidFill>
                  <a:srgbClr val="A0AEC0"/>
                </a:solidFill>
                <a:latin typeface="Segoe UI" panose="020B0502040204020203" pitchFamily="34" charset="0"/>
              </a:rPr>
              <a:t>
Sentinel 7-Layer
AES-GCM-256 Client E2EE
Hardware Keystore Ready</a:t>
            </a:r>
          </a:p>
        </p:txBody>
      </p:sp>
      <p:sp>
        <p:nvSpPr>
          <p:cNvPr id="10" name="Rectangle: Rounded Corners 9">
            <a:extLst>
              <a:ext uri="{FF2B5EF4-FFF2-40B4-BE49-F238E27FC236}">
                <a16:creationId xmlns:a16="http://schemas.microsoft.com/office/drawing/2014/main" id="{64CBACE7-4DA5-F692-8A9E-3883BC0F0EF6}"/>
              </a:ext>
            </a:extLst>
          </p:cNvPr>
          <p:cNvSpPr/>
          <p:nvPr/>
        </p:nvSpPr>
        <p:spPr>
          <a:xfrm>
            <a:off x="6172200" y="3365500"/>
            <a:ext cx="2641600" cy="1778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52400" tIns="152400" rIns="152400" bIns="152400" rtlCol="0" anchor="ctr"/>
          <a:lstStyle/>
          <a:p>
            <a:pPr algn="ctr"/>
            <a:r>
              <a:rPr lang="en-IN" sz="1050" b="1">
                <a:solidFill>
                  <a:srgbClr val="FFC300"/>
                </a:solidFill>
                <a:latin typeface="Segoe UI" panose="020B0502040204020203" pitchFamily="34" charset="0"/>
              </a:rPr>
              <a:t>⚡ OFFLINE-FIRST ROOM
</a:t>
            </a:r>
            <a:r>
              <a:rPr lang="en-IN" sz="1000">
                <a:solidFill>
                  <a:srgbClr val="A0AEC0"/>
                </a:solidFill>
                <a:latin typeface="Segoe UI" panose="020B0502040204020203" pitchFamily="34" charset="0"/>
              </a:rPr>
              <a:t>
Room SQLite Database
Zero Data Loss Sync
Dual WebSocket Engine</a:t>
            </a:r>
          </a:p>
        </p:txBody>
      </p:sp>
      <p:sp>
        <p:nvSpPr>
          <p:cNvPr id="11" name="Rectangle: Rounded Corners 10">
            <a:extLst>
              <a:ext uri="{FF2B5EF4-FFF2-40B4-BE49-F238E27FC236}">
                <a16:creationId xmlns:a16="http://schemas.microsoft.com/office/drawing/2014/main" id="{8905338F-5DC5-7AC1-55EF-F3204885C6D4}"/>
              </a:ext>
            </a:extLst>
          </p:cNvPr>
          <p:cNvSpPr/>
          <p:nvPr/>
        </p:nvSpPr>
        <p:spPr>
          <a:xfrm>
            <a:off x="8940800" y="3365500"/>
            <a:ext cx="2641600" cy="1778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52400" tIns="152400" rIns="152400" bIns="152400" rtlCol="0" anchor="ctr"/>
          <a:lstStyle/>
          <a:p>
            <a:pPr algn="ctr"/>
            <a:r>
              <a:rPr lang="en-US" sz="1050" b="1">
                <a:solidFill>
                  <a:srgbClr val="00C49F"/>
                </a:solidFill>
                <a:latin typeface="Segoe UI" panose="020B0502040204020203" pitchFamily="34" charset="0"/>
              </a:rPr>
              <a:t>🛍️ 3-TIER COMMERCE
</a:t>
            </a:r>
            <a:r>
              <a:rPr lang="en-US" sz="1000">
                <a:solidFill>
                  <a:srgbClr val="A0AEC0"/>
                </a:solidFill>
                <a:latin typeface="Segoe UI" panose="020B0502040204020203" pitchFamily="34" charset="0"/>
              </a:rPr>
              <a:t>
Pre-owned Goods (₹)
1-Tap Career Jobs
Instant-Payout Quick Gigs</a:t>
            </a:r>
            <a:endParaRPr lang="en-IN" sz="1000">
              <a:solidFill>
                <a:srgbClr val="A0AEC0"/>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C4CED6BA-8736-62AB-AFCB-308449B470F8}"/>
              </a:ext>
            </a:extLst>
          </p:cNvPr>
          <p:cNvSpPr/>
          <p:nvPr/>
        </p:nvSpPr>
        <p:spPr>
          <a:xfrm>
            <a:off x="635000" y="5397500"/>
            <a:ext cx="10922000" cy="95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000" b="1">
                <a:solidFill>
                  <a:srgbClr val="FFFFFF"/>
                </a:solidFill>
                <a:latin typeface="Segoe UI" panose="020B0502040204020203" pitchFamily="34" charset="0"/>
              </a:rPr>
              <a:t>PROJECT OVERVIEW &amp; SUPPORT SUBMISSION
</a:t>
            </a:r>
            <a:r>
              <a:rPr lang="en-IN" sz="1000">
                <a:solidFill>
                  <a:srgbClr val="A0AEC0"/>
                </a:solidFill>
                <a:latin typeface="Segoe UI" panose="020B0502040204020203" pitchFamily="34" charset="0"/>
              </a:rPr>
              <a:t>Engineering Core: Clean MVVM Architecture • Kotlin 1.9 • Supabase PostgreSQL • Cloudinary CDN
Purpose: Project Evaluation, Grant Submission &amp; National Scale-Up Strategy</a:t>
            </a:r>
          </a:p>
        </p:txBody>
      </p:sp>
    </p:spTree>
    <p:extLst>
      <p:ext uri="{BB962C8B-B14F-4D97-AF65-F5344CB8AC3E}">
        <p14:creationId xmlns:p14="http://schemas.microsoft.com/office/powerpoint/2010/main" val="989794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D74FFB-BE68-CB93-8B28-3A6FE54A2AC3}"/>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BCD0B62-77F9-677F-EDBC-8B5EFEA77FE5}"/>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THE PROBLEM STATEMENT</a:t>
            </a:r>
          </a:p>
        </p:txBody>
      </p:sp>
      <p:sp>
        <p:nvSpPr>
          <p:cNvPr id="4" name="TextBox 3">
            <a:extLst>
              <a:ext uri="{FF2B5EF4-FFF2-40B4-BE49-F238E27FC236}">
                <a16:creationId xmlns:a16="http://schemas.microsoft.com/office/drawing/2014/main" id="{FB5B94EA-C48F-C2C8-D296-A093434EF75F}"/>
              </a:ext>
            </a:extLst>
          </p:cNvPr>
          <p:cNvSpPr txBox="1"/>
          <p:nvPr/>
        </p:nvSpPr>
        <p:spPr>
          <a:xfrm>
            <a:off x="635000" y="571500"/>
            <a:ext cx="9525000" cy="677108"/>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The Crisis &amp; Opportunity: Why Bharat Needs an Independent Social Mesh</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6EA4CD64-D5E2-37DD-D549-23A30DF7F140}"/>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02 / 16</a:t>
            </a:r>
          </a:p>
        </p:txBody>
      </p:sp>
      <p:sp>
        <p:nvSpPr>
          <p:cNvPr id="6" name="Rectangle 5">
            <a:extLst>
              <a:ext uri="{FF2B5EF4-FFF2-40B4-BE49-F238E27FC236}">
                <a16:creationId xmlns:a16="http://schemas.microsoft.com/office/drawing/2014/main" id="{953AB2AF-C605-582F-5E6D-A604320347D9}"/>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14B0B89-26DB-CE4A-F50D-7A846F88B97E}"/>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06C527D0-FBDF-5471-4778-2FEB467315E4}"/>
              </a:ext>
            </a:extLst>
          </p:cNvPr>
          <p:cNvSpPr/>
          <p:nvPr/>
        </p:nvSpPr>
        <p:spPr>
          <a:xfrm>
            <a:off x="635000" y="1397000"/>
            <a:ext cx="3556000" cy="3683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7F11"/>
                </a:solidFill>
                <a:latin typeface="Segoe UI" panose="020B0502040204020203" pitchFamily="34" charset="0"/>
              </a:rPr>
              <a:t>⚠️  RURAL &amp; TIER 2/3 CONNECTIVITY </a:t>
            </a:r>
            <a:r>
              <a:rPr lang="en-IN" sz="1150" b="1">
                <a:solidFill>
                  <a:srgbClr val="A0AEC0"/>
                </a:solidFill>
                <a:latin typeface="Segoe UI" panose="020B0502040204020203" pitchFamily="34" charset="0"/>
              </a:rPr>
              <a:t>VOID
</a:t>
            </a:r>
            <a:r>
              <a:rPr lang="en-IN" sz="1050">
                <a:solidFill>
                  <a:srgbClr val="A0AEC0"/>
                </a:solidFill>
                <a:latin typeface="Segoe UI" panose="020B0502040204020203" pitchFamily="34" charset="0"/>
              </a:rPr>
              <a:t>
• Spotty 3G/4G connectivity causes Western social apps to hang or fail completely.
• Bloated apps (&gt;100MB) consume excessive storage and expensive cellular bandwidth.
• Zero offline usability: Messages are lost, feeds refuse to render, and drafts disappear.
• Need: Lightweight (&lt;25MB), offline-first architecture functioning seamlessly on weak networks.</a:t>
            </a:r>
          </a:p>
        </p:txBody>
      </p:sp>
      <p:sp>
        <p:nvSpPr>
          <p:cNvPr id="9" name="Rectangle: Rounded Corners 8">
            <a:extLst>
              <a:ext uri="{FF2B5EF4-FFF2-40B4-BE49-F238E27FC236}">
                <a16:creationId xmlns:a16="http://schemas.microsoft.com/office/drawing/2014/main" id="{E67DA1D6-2AA2-9CB9-9F20-91E264C0F431}"/>
              </a:ext>
            </a:extLst>
          </p:cNvPr>
          <p:cNvSpPr/>
          <p:nvPr/>
        </p:nvSpPr>
        <p:spPr>
          <a:xfrm>
            <a:off x="4356100" y="1397000"/>
            <a:ext cx="3556000" cy="3683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US" sz="1150" b="1">
                <a:solidFill>
                  <a:srgbClr val="00B4D8"/>
                </a:solidFill>
                <a:latin typeface="Segoe UI" panose="020B0502040204020203" pitchFamily="34" charset="0"/>
              </a:rPr>
              <a:t>⚠️  CENTRALIZED DATA EXPLOITATION
</a:t>
            </a:r>
            <a:r>
              <a:rPr lang="en-US" sz="1050">
                <a:solidFill>
                  <a:srgbClr val="A0AEC0"/>
                </a:solidFill>
                <a:latin typeface="Segoe UI" panose="020B0502040204020203" pitchFamily="34" charset="0"/>
              </a:rPr>
              <a:t>
• Citizen communication patterns, location traces, and social graphs harvested by foreign tech giants.
• Closed proprietary algorithms censor local community voices and prioritize rage-bait ads.
• High vulnerability to single-point cloud outages and international policy shifts.
• Need: Sovereign, encrypted, locally controlled communications with true data privacy.</a:t>
            </a:r>
            <a:endParaRPr lang="en-IN" sz="1050">
              <a:solidFill>
                <a:srgbClr val="A0AEC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C3A9E988-668C-2126-EC97-5EE7B168F7FE}"/>
              </a:ext>
            </a:extLst>
          </p:cNvPr>
          <p:cNvSpPr/>
          <p:nvPr/>
        </p:nvSpPr>
        <p:spPr>
          <a:xfrm>
            <a:off x="8077200" y="1397000"/>
            <a:ext cx="3556000" cy="3683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US" sz="1150" b="1">
                <a:solidFill>
                  <a:srgbClr val="00C49F"/>
                </a:solidFill>
                <a:latin typeface="Segoe UI" panose="020B0502040204020203" pitchFamily="34" charset="0"/>
              </a:rPr>
              <a:t>⚠️  THE DISCONNECTED INFORMAL </a:t>
            </a:r>
            <a:r>
              <a:rPr lang="en-US" sz="1050">
                <a:solidFill>
                  <a:srgbClr val="A0AEC0"/>
                </a:solidFill>
                <a:latin typeface="Segoe UI" panose="020B0502040204020203" pitchFamily="34" charset="0"/>
              </a:rPr>
              <a:t>ECONOMY
• Over 85% of India's 500M+ workforce belongs to the unorganized/informal sector.
• Local daily-wage workers, plumbers, artisans, and dukandaars have no digital discovery.
• Traditional gig aggregators levy punitive 20%–30% commissions on low-income workers.
• Need: Zero-commission, hyper-local discovery radar and direct-payout community marketplace.</a:t>
            </a:r>
            <a:endParaRPr lang="en-IN" sz="1050">
              <a:solidFill>
                <a:srgbClr val="A0AEC0"/>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81C9DD4C-90C1-B095-8F02-83BD28CEB366}"/>
              </a:ext>
            </a:extLst>
          </p:cNvPr>
          <p:cNvSpPr/>
          <p:nvPr/>
        </p:nvSpPr>
        <p:spPr>
          <a:xfrm>
            <a:off x="635000" y="5270500"/>
            <a:ext cx="10922000" cy="1016000"/>
          </a:xfrm>
          <a:prstGeom prst="roundRect">
            <a:avLst/>
          </a:prstGeom>
          <a:solidFill>
            <a:srgbClr val="1C2D60"/>
          </a:solidFill>
          <a:ln w="12700">
            <a:solidFill>
              <a:srgbClr val="FF7F11"/>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US" sz="1100" b="1">
                <a:solidFill>
                  <a:srgbClr val="FFFFFF"/>
                </a:solidFill>
                <a:latin typeface="Segoe UI" panose="020B0502040204020203" pitchFamily="34" charset="0"/>
              </a:rPr>
              <a:t>THE MARKET REALITY: Over 500 Million 'Next Billion Users' across Tier 2, 3, 4 towns and rural villages are forced into platforms designed for Silicon Valley. BharatConnect is architected from the ground up for the Indian reality: resilient, private, hyper-local, and economically empowering.</a:t>
            </a:r>
            <a:endParaRPr lang="en-IN"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3454848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791627-E519-A405-8830-2D85333D369D}"/>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3FED588-7362-A7F0-7EC1-EDC2662364BF}"/>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PRODUCT &amp; ARCHITECTURAL VISION</a:t>
            </a:r>
          </a:p>
        </p:txBody>
      </p:sp>
      <p:sp>
        <p:nvSpPr>
          <p:cNvPr id="4" name="TextBox 3">
            <a:extLst>
              <a:ext uri="{FF2B5EF4-FFF2-40B4-BE49-F238E27FC236}">
                <a16:creationId xmlns:a16="http://schemas.microsoft.com/office/drawing/2014/main" id="{55D5F612-A87A-1C42-38FB-7CADBA107F1E}"/>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The BharatConnect Solution: Sovereign, Resilient &amp; Hyper-Local</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34B13330-623E-CA8E-89D4-B0270105DEE3}"/>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03 / 16</a:t>
            </a:r>
          </a:p>
        </p:txBody>
      </p:sp>
      <p:sp>
        <p:nvSpPr>
          <p:cNvPr id="6" name="Rectangle 5">
            <a:extLst>
              <a:ext uri="{FF2B5EF4-FFF2-40B4-BE49-F238E27FC236}">
                <a16:creationId xmlns:a16="http://schemas.microsoft.com/office/drawing/2014/main" id="{E07B0DEA-AB47-4F8F-3F8A-0A805AAC98D7}"/>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91FBA67-5B5A-990E-7E54-42238CA200F2}"/>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C83356C8-11AD-6D6D-AAEA-E317E9DBAF67}"/>
              </a:ext>
            </a:extLst>
          </p:cNvPr>
          <p:cNvSpPr/>
          <p:nvPr/>
        </p:nvSpPr>
        <p:spPr>
          <a:xfrm>
            <a:off x="635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250" b="1">
                <a:solidFill>
                  <a:srgbClr val="FFC300"/>
                </a:solidFill>
                <a:latin typeface="Segoe UI" panose="020B0502040204020203" pitchFamily="34" charset="0"/>
              </a:rPr>
              <a:t>✦  OFFLINE-FIRST RESILIENCE
</a:t>
            </a:r>
            <a:r>
              <a:rPr lang="en-IN" sz="1100">
                <a:solidFill>
                  <a:srgbClr val="A0AEC0"/>
                </a:solidFill>
                <a:latin typeface="Segoe UI" panose="020B0502040204020203" pitchFamily="34" charset="0"/>
              </a:rPr>
              <a:t>
Local Room SQLite database operates as an authoritative client ledger. Users can browse feeds, compose posts, and send messages without an active connection. Android WorkManager intelligently synchronizes transactions when internet resumes.</a:t>
            </a:r>
          </a:p>
        </p:txBody>
      </p:sp>
      <p:sp>
        <p:nvSpPr>
          <p:cNvPr id="9" name="Rectangle: Rounded Corners 8">
            <a:extLst>
              <a:ext uri="{FF2B5EF4-FFF2-40B4-BE49-F238E27FC236}">
                <a16:creationId xmlns:a16="http://schemas.microsoft.com/office/drawing/2014/main" id="{7D3CEF36-5D78-3F70-9A01-68BB8D1A7791}"/>
              </a:ext>
            </a:extLst>
          </p:cNvPr>
          <p:cNvSpPr/>
          <p:nvPr/>
        </p:nvSpPr>
        <p:spPr>
          <a:xfrm>
            <a:off x="6223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250" b="1">
                <a:solidFill>
                  <a:srgbClr val="00B4D8"/>
                </a:solidFill>
                <a:latin typeface="Segoe UI" panose="020B0502040204020203" pitchFamily="34" charset="0"/>
              </a:rPr>
              <a:t>✦  HYPER-LOCAL RADAR
</a:t>
            </a:r>
            <a:r>
              <a:rPr lang="en-IN" sz="1100">
                <a:solidFill>
                  <a:srgbClr val="A0AEC0"/>
                </a:solidFill>
                <a:latin typeface="Segoe UI" panose="020B0502040204020203" pitchFamily="34" charset="0"/>
              </a:rPr>
              <a:t>
Live animated pulse radar dynamically discovers nearby members and services within 1km, 5km, and 10km radii. Real-time distance calculations with 1-tap instant messaging foster authentic neighborhood collaboration.</a:t>
            </a:r>
          </a:p>
        </p:txBody>
      </p:sp>
      <p:sp>
        <p:nvSpPr>
          <p:cNvPr id="10" name="Rectangle: Rounded Corners 9">
            <a:extLst>
              <a:ext uri="{FF2B5EF4-FFF2-40B4-BE49-F238E27FC236}">
                <a16:creationId xmlns:a16="http://schemas.microsoft.com/office/drawing/2014/main" id="{7A3C4310-20A5-EA04-7B79-4C9E405BE12A}"/>
              </a:ext>
            </a:extLst>
          </p:cNvPr>
          <p:cNvSpPr/>
          <p:nvPr/>
        </p:nvSpPr>
        <p:spPr>
          <a:xfrm>
            <a:off x="635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250" b="1">
                <a:solidFill>
                  <a:srgbClr val="00C49F"/>
                </a:solidFill>
                <a:latin typeface="Segoe UI" panose="020B0502040204020203" pitchFamily="34" charset="0"/>
              </a:rPr>
              <a:t>✦  WHATSAPP-TIER MESSAGING
</a:t>
            </a:r>
            <a:r>
              <a:rPr lang="en-IN" sz="1100">
                <a:solidFill>
                  <a:srgbClr val="A0AEC0"/>
                </a:solidFill>
                <a:latin typeface="Segoe UI" panose="020B0502040204020203" pitchFamily="34" charset="0"/>
              </a:rPr>
              <a:t>
Real-time dual sync engine utilizing Supabase WebSocket channels with 2.0s polling fallback. Multi-state delivery ticks (⏳ Sending, ✓ Sent, ✓✓ Delivered, ✓✓ Blue Read) with rich multimedia attachment drawers.</a:t>
            </a:r>
          </a:p>
        </p:txBody>
      </p:sp>
      <p:sp>
        <p:nvSpPr>
          <p:cNvPr id="11" name="Rectangle: Rounded Corners 10">
            <a:extLst>
              <a:ext uri="{FF2B5EF4-FFF2-40B4-BE49-F238E27FC236}">
                <a16:creationId xmlns:a16="http://schemas.microsoft.com/office/drawing/2014/main" id="{19A580C6-D280-E3CD-4F58-73454DECF707}"/>
              </a:ext>
            </a:extLst>
          </p:cNvPr>
          <p:cNvSpPr/>
          <p:nvPr/>
        </p:nvSpPr>
        <p:spPr>
          <a:xfrm>
            <a:off x="6223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US" sz="1250" b="1">
                <a:solidFill>
                  <a:srgbClr val="FF7F11"/>
                </a:solidFill>
                <a:latin typeface="Segoe UI" panose="020B0502040204020203" pitchFamily="34" charset="0"/>
              </a:rPr>
              <a:t>✦  TRI-TIER COMMUNITY COMMERCE
</a:t>
            </a:r>
            <a:r>
              <a:rPr lang="en-US" sz="1100">
                <a:solidFill>
                  <a:srgbClr val="A0AEC0"/>
                </a:solidFill>
                <a:latin typeface="Segoe UI" panose="020B0502040204020203" pitchFamily="34" charset="0"/>
              </a:rPr>
              <a:t>
Built-in marketplace removing middlemen: Pre-owned classified items with transparent Rupee (₹) pricing, verified career job listings, and instant-payout Quick Gigs for localized neighborhood tasks.</a:t>
            </a:r>
            <a:endParaRPr lang="en-IN" sz="1100">
              <a:solidFill>
                <a:srgbClr val="A0AEC0"/>
              </a:solidFill>
              <a:latin typeface="Segoe UI" panose="020B0502040204020203" pitchFamily="34" charset="0"/>
            </a:endParaRPr>
          </a:p>
        </p:txBody>
      </p:sp>
    </p:spTree>
    <p:extLst>
      <p:ext uri="{BB962C8B-B14F-4D97-AF65-F5344CB8AC3E}">
        <p14:creationId xmlns:p14="http://schemas.microsoft.com/office/powerpoint/2010/main" val="3701579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114A79-3AEE-BA01-648F-6B71CD2FEE8B}"/>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CA834D9-A64E-6212-1382-178221D2A5B3}"/>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ENGINEERING STATUS</a:t>
            </a:r>
          </a:p>
        </p:txBody>
      </p:sp>
      <p:sp>
        <p:nvSpPr>
          <p:cNvPr id="4" name="TextBox 3">
            <a:extLst>
              <a:ext uri="{FF2B5EF4-FFF2-40B4-BE49-F238E27FC236}">
                <a16:creationId xmlns:a16="http://schemas.microsoft.com/office/drawing/2014/main" id="{B626C244-C106-DA3F-CD7E-0B86E4535752}"/>
              </a:ext>
            </a:extLst>
          </p:cNvPr>
          <p:cNvSpPr txBox="1"/>
          <p:nvPr/>
        </p:nvSpPr>
        <p:spPr>
          <a:xfrm>
            <a:off x="635000" y="571500"/>
            <a:ext cx="9525000" cy="338554"/>
          </a:xfrm>
          <a:prstGeom prst="rect">
            <a:avLst/>
          </a:prstGeom>
          <a:noFill/>
        </p:spPr>
        <p:txBody>
          <a:bodyPr vert="horz" lIns="0" tIns="0" rIns="0" bIns="0" rtlCol="0">
            <a:spAutoFit/>
          </a:bodyPr>
          <a:lstStyle/>
          <a:p>
            <a:r>
              <a:rPr lang="en-IN" sz="2200" b="1">
                <a:solidFill>
                  <a:srgbClr val="FFFFFF"/>
                </a:solidFill>
                <a:latin typeface="Segoe UI" panose="020B0502040204020203" pitchFamily="34" charset="0"/>
              </a:rPr>
              <a:t>Current Progress: Production Milestones &amp; Validated Deliverables</a:t>
            </a:r>
          </a:p>
        </p:txBody>
      </p:sp>
      <p:sp>
        <p:nvSpPr>
          <p:cNvPr id="5" name="TextBox 4">
            <a:extLst>
              <a:ext uri="{FF2B5EF4-FFF2-40B4-BE49-F238E27FC236}">
                <a16:creationId xmlns:a16="http://schemas.microsoft.com/office/drawing/2014/main" id="{E23E8536-435B-607C-501C-93503B669A80}"/>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04 / 16</a:t>
            </a:r>
          </a:p>
        </p:txBody>
      </p:sp>
      <p:sp>
        <p:nvSpPr>
          <p:cNvPr id="6" name="Rectangle 5">
            <a:extLst>
              <a:ext uri="{FF2B5EF4-FFF2-40B4-BE49-F238E27FC236}">
                <a16:creationId xmlns:a16="http://schemas.microsoft.com/office/drawing/2014/main" id="{07BAB665-9BC1-290A-77B2-4BCD69B1842C}"/>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52624C61-8E57-8AD2-5772-10E263648A3D}"/>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B1D23BC3-9913-8942-B791-BC326B9FEDF0}"/>
              </a:ext>
            </a:extLst>
          </p:cNvPr>
          <p:cNvSpPr/>
          <p:nvPr/>
        </p:nvSpPr>
        <p:spPr>
          <a:xfrm>
            <a:off x="635000" y="1397000"/>
            <a:ext cx="2641600" cy="1143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01600" tIns="101600" rIns="101600" bIns="101600" rtlCol="0" anchor="ctr"/>
          <a:lstStyle/>
          <a:p>
            <a:pPr algn="ctr"/>
            <a:r>
              <a:rPr lang="en-US" sz="1900" b="1">
                <a:solidFill>
                  <a:srgbClr val="00C49F"/>
                </a:solidFill>
                <a:latin typeface="Segoe UI" panose="020B0502040204020203" pitchFamily="34" charset="0"/>
              </a:rPr>
              <a:t>24.7 MB
</a:t>
            </a:r>
            <a:r>
              <a:rPr lang="en-US" sz="1050" b="1">
                <a:solidFill>
                  <a:srgbClr val="FFFFFF"/>
                </a:solidFill>
                <a:latin typeface="Segoe UI" panose="020B0502040204020203" pitchFamily="34" charset="0"/>
              </a:rPr>
              <a:t>Native Binary Size
</a:t>
            </a:r>
            <a:r>
              <a:rPr lang="en-US" sz="900">
                <a:solidFill>
                  <a:srgbClr val="A0AEC0"/>
                </a:solidFill>
                <a:latin typeface="Segoe UI" panose="020B0502040204020203" pitchFamily="34" charset="0"/>
              </a:rPr>
              <a:t>Zero bloat, instant install</a:t>
            </a:r>
            <a:endParaRPr lang="en-IN" sz="900">
              <a:solidFill>
                <a:srgbClr val="A0AEC0"/>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2F535958-D00A-338E-A3CF-DF76BF8771CB}"/>
              </a:ext>
            </a:extLst>
          </p:cNvPr>
          <p:cNvSpPr/>
          <p:nvPr/>
        </p:nvSpPr>
        <p:spPr>
          <a:xfrm>
            <a:off x="3403600" y="1397000"/>
            <a:ext cx="2641600" cy="1143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01600" tIns="101600" rIns="101600" bIns="101600" rtlCol="0" anchor="ctr"/>
          <a:lstStyle/>
          <a:p>
            <a:pPr algn="ctr"/>
            <a:r>
              <a:rPr lang="en-US" sz="1900" b="1">
                <a:solidFill>
                  <a:srgbClr val="00B4D8"/>
                </a:solidFill>
                <a:latin typeface="Segoe UI" panose="020B0502040204020203" pitchFamily="34" charset="0"/>
              </a:rPr>
              <a:t>60 / 120 FPS
</a:t>
            </a:r>
            <a:r>
              <a:rPr lang="en-US" sz="1050" b="1">
                <a:solidFill>
                  <a:srgbClr val="FFFFFF"/>
                </a:solidFill>
                <a:latin typeface="Segoe UI" panose="020B0502040204020203" pitchFamily="34" charset="0"/>
              </a:rPr>
              <a:t>Fluid Animation Rate
</a:t>
            </a:r>
            <a:r>
              <a:rPr lang="en-US" sz="900">
                <a:solidFill>
                  <a:srgbClr val="A0AEC0"/>
                </a:solidFill>
                <a:latin typeface="Segoe UI" panose="020B0502040204020203" pitchFamily="34" charset="0"/>
              </a:rPr>
              <a:t>Jetpack Compose Material 3</a:t>
            </a:r>
            <a:endParaRPr lang="en-IN" sz="900">
              <a:solidFill>
                <a:srgbClr val="A0AEC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6B4A1444-2E75-1A5F-8B91-625487100A5D}"/>
              </a:ext>
            </a:extLst>
          </p:cNvPr>
          <p:cNvSpPr/>
          <p:nvPr/>
        </p:nvSpPr>
        <p:spPr>
          <a:xfrm>
            <a:off x="6172200" y="1397000"/>
            <a:ext cx="2641600" cy="1143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01600" tIns="101600" rIns="101600" bIns="101600" rtlCol="0" anchor="ctr"/>
          <a:lstStyle/>
          <a:p>
            <a:pPr algn="ctr"/>
            <a:r>
              <a:rPr lang="en-US" sz="1900" b="1">
                <a:solidFill>
                  <a:srgbClr val="FFC300"/>
                </a:solidFill>
                <a:latin typeface="Segoe UI" panose="020B0502040204020203" pitchFamily="34" charset="0"/>
              </a:rPr>
              <a:t>100% PASS
</a:t>
            </a:r>
            <a:r>
              <a:rPr lang="en-US" sz="1050" b="1">
                <a:solidFill>
                  <a:srgbClr val="FFFFFF"/>
                </a:solidFill>
                <a:latin typeface="Segoe UI" panose="020B0502040204020203" pitchFamily="34" charset="0"/>
              </a:rPr>
              <a:t>27 Unit Test Suites
</a:t>
            </a:r>
            <a:r>
              <a:rPr lang="en-US" sz="900">
                <a:solidFill>
                  <a:srgbClr val="A0AEC0"/>
                </a:solidFill>
                <a:latin typeface="Segoe UI" panose="020B0502040204020203" pitchFamily="34" charset="0"/>
              </a:rPr>
              <a:t>Clean architecture test coverage</a:t>
            </a:r>
            <a:endParaRPr lang="en-IN" sz="900">
              <a:solidFill>
                <a:srgbClr val="A0AEC0"/>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1077F42F-8FD4-57B0-930E-CC3157294E60}"/>
              </a:ext>
            </a:extLst>
          </p:cNvPr>
          <p:cNvSpPr/>
          <p:nvPr/>
        </p:nvSpPr>
        <p:spPr>
          <a:xfrm>
            <a:off x="8940800" y="1397000"/>
            <a:ext cx="2641600" cy="1143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01600" tIns="101600" rIns="101600" bIns="101600" rtlCol="0" anchor="ctr"/>
          <a:lstStyle/>
          <a:p>
            <a:pPr algn="ctr"/>
            <a:r>
              <a:rPr lang="en-US" sz="1900" b="1">
                <a:solidFill>
                  <a:srgbClr val="FF7F11"/>
                </a:solidFill>
                <a:latin typeface="Segoe UI" panose="020B0502040204020203" pitchFamily="34" charset="0"/>
              </a:rPr>
              <a:t>&lt; 150 ms
</a:t>
            </a:r>
            <a:r>
              <a:rPr lang="en-US" sz="1050" b="1">
                <a:solidFill>
                  <a:srgbClr val="FFFFFF"/>
                </a:solidFill>
                <a:latin typeface="Segoe UI" panose="020B0502040204020203" pitchFamily="34" charset="0"/>
              </a:rPr>
              <a:t>WebSocket Delivery
</a:t>
            </a:r>
            <a:r>
              <a:rPr lang="en-US" sz="900">
                <a:solidFill>
                  <a:srgbClr val="A0AEC0"/>
                </a:solidFill>
                <a:latin typeface="Segoe UI" panose="020B0502040204020203" pitchFamily="34" charset="0"/>
              </a:rPr>
              <a:t>Supabase Realtime channels</a:t>
            </a:r>
            <a:endParaRPr lang="en-IN" sz="900">
              <a:solidFill>
                <a:srgbClr val="A0AEC0"/>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63ED9A77-E015-51FA-C1B2-DDCFB88EABA5}"/>
              </a:ext>
            </a:extLst>
          </p:cNvPr>
          <p:cNvSpPr/>
          <p:nvPr/>
        </p:nvSpPr>
        <p:spPr>
          <a:xfrm>
            <a:off x="635000" y="2730500"/>
            <a:ext cx="3556000" cy="349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100" b="1">
                <a:solidFill>
                  <a:srgbClr val="FFFFFF"/>
                </a:solidFill>
                <a:latin typeface="Segoe UI" panose="020B0502040204020203" pitchFamily="34" charset="0"/>
              </a:rPr>
              <a:t>✅  CLIENT APPLICATION
</a:t>
            </a:r>
            <a:r>
              <a:rPr lang="en-IN" sz="950">
                <a:solidFill>
                  <a:srgbClr val="A0AEC0"/>
                </a:solidFill>
                <a:latin typeface="Segoe UI" panose="020B0502040204020203" pitchFamily="34" charset="0"/>
              </a:rPr>
              <a:t>
• 100% Kotlin Native Jetpack Compose.
• Shimmer skeleton loading &amp; zero UI lockups.
• Full Room SQLite persistence layer (`PostDao`, `MessageDao`, `UserDao`, `ConversationDao`).
• Cloudinary unsigned direct binary upload engine.
• Coil media engine with smart memory caching.
• Standalone signed APK: `BharatConnect-Native.apk`.</a:t>
            </a:r>
          </a:p>
        </p:txBody>
      </p:sp>
      <p:sp>
        <p:nvSpPr>
          <p:cNvPr id="13" name="Rectangle: Rounded Corners 12">
            <a:extLst>
              <a:ext uri="{FF2B5EF4-FFF2-40B4-BE49-F238E27FC236}">
                <a16:creationId xmlns:a16="http://schemas.microsoft.com/office/drawing/2014/main" id="{EAA88EA4-D7B1-D95E-70A0-7359FDB6E080}"/>
              </a:ext>
            </a:extLst>
          </p:cNvPr>
          <p:cNvSpPr/>
          <p:nvPr/>
        </p:nvSpPr>
        <p:spPr>
          <a:xfrm>
            <a:off x="4356100" y="2730500"/>
            <a:ext cx="3556000" cy="349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100" b="1">
                <a:solidFill>
                  <a:srgbClr val="FFFFFF"/>
                </a:solidFill>
                <a:latin typeface="Segoe UI" panose="020B0502040204020203" pitchFamily="34" charset="0"/>
              </a:rPr>
              <a:t>✅  IDENTITY &amp; REAL-TIME SYNC
</a:t>
            </a:r>
            <a:r>
              <a:rPr lang="en-IN" sz="950">
                <a:solidFill>
                  <a:srgbClr val="A0AEC0"/>
                </a:solidFill>
                <a:latin typeface="Segoe UI" panose="020B0502040204020203" pitchFamily="34" charset="0"/>
              </a:rPr>
              <a:t>
• Multi-tier session resolver: Supabase token + SharedPreferences + Room local fallback.
• Universal login: Username, Email, or Mobile.
• Dual Real-Time Sync: WebSocket channel subscription + 2.0s background polling fallback.
• Idempotent UUID conflict resolution.
• Ephemeral 24hr TTL status &amp; stories creator.
• Full dark/light Material 3 theme engine.</a:t>
            </a:r>
          </a:p>
        </p:txBody>
      </p:sp>
      <p:sp>
        <p:nvSpPr>
          <p:cNvPr id="14" name="Rectangle: Rounded Corners 13">
            <a:extLst>
              <a:ext uri="{FF2B5EF4-FFF2-40B4-BE49-F238E27FC236}">
                <a16:creationId xmlns:a16="http://schemas.microsoft.com/office/drawing/2014/main" id="{8E792115-FF2B-634F-1C5B-00B5497C2E24}"/>
              </a:ext>
            </a:extLst>
          </p:cNvPr>
          <p:cNvSpPr/>
          <p:nvPr/>
        </p:nvSpPr>
        <p:spPr>
          <a:xfrm>
            <a:off x="8077200" y="2730500"/>
            <a:ext cx="3556000" cy="349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100" b="1">
                <a:solidFill>
                  <a:srgbClr val="FFFFFF"/>
                </a:solidFill>
                <a:latin typeface="Segoe UI" panose="020B0502040204020203" pitchFamily="34" charset="0"/>
              </a:rPr>
              <a:t>✅  BACKEND &amp; INFRASTRUCTURE
</a:t>
            </a:r>
            <a:r>
              <a:rPr lang="en-IN" sz="950">
                <a:solidFill>
                  <a:srgbClr val="A0AEC0"/>
                </a:solidFill>
                <a:latin typeface="Segoe UI" panose="020B0502040204020203" pitchFamily="34" charset="0"/>
              </a:rPr>
              <a:t>
• Supabase PostgreSQL 15 cloud database.
• 13 production schema tables with RLS policies.
• Database triggers for likes, unread counts &amp; chats.
• FastAPI microservice (`server.py`) for webhook dispatching and health monitoring.
• Web distribution landing page with direct download.
• 1-Click build automation (`build_native_apk.bat`).</a:t>
            </a:r>
          </a:p>
        </p:txBody>
      </p:sp>
    </p:spTree>
    <p:extLst>
      <p:ext uri="{BB962C8B-B14F-4D97-AF65-F5344CB8AC3E}">
        <p14:creationId xmlns:p14="http://schemas.microsoft.com/office/powerpoint/2010/main" val="307777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E8A109-5C20-20FB-D17B-A9DE11D13E65}"/>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749C4AA-AC9A-E91A-A716-0FED570445F8}"/>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TECHNICAL DESIGN</a:t>
            </a:r>
          </a:p>
        </p:txBody>
      </p:sp>
      <p:sp>
        <p:nvSpPr>
          <p:cNvPr id="4" name="TextBox 3">
            <a:extLst>
              <a:ext uri="{FF2B5EF4-FFF2-40B4-BE49-F238E27FC236}">
                <a16:creationId xmlns:a16="http://schemas.microsoft.com/office/drawing/2014/main" id="{8F03FE22-72EB-36CB-0EEB-1553FD1E860B}"/>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System Architecture: Clean Architecture &amp; Dual Sync Engine</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EE98DE7D-F04D-8938-A10C-80924AA39132}"/>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05 / 16</a:t>
            </a:r>
          </a:p>
        </p:txBody>
      </p:sp>
      <p:sp>
        <p:nvSpPr>
          <p:cNvPr id="6" name="Rectangle 5">
            <a:extLst>
              <a:ext uri="{FF2B5EF4-FFF2-40B4-BE49-F238E27FC236}">
                <a16:creationId xmlns:a16="http://schemas.microsoft.com/office/drawing/2014/main" id="{B6C0789C-E8D5-3175-C419-437FD9977897}"/>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1692AFA8-016C-0421-7008-5F90F78231C5}"/>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84E28060-8D4E-970B-4C9A-73F51F1842B7}"/>
              </a:ext>
            </a:extLst>
          </p:cNvPr>
          <p:cNvSpPr/>
          <p:nvPr/>
        </p:nvSpPr>
        <p:spPr>
          <a:xfrm>
            <a:off x="635000" y="13970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US" sz="1100" b="1">
                <a:solidFill>
                  <a:srgbClr val="00B4D8"/>
                </a:solidFill>
                <a:latin typeface="Segoe UI" panose="020B0502040204020203" pitchFamily="34" charset="0"/>
              </a:rPr>
              <a:t>⚙️  LAYER 1: PRESENTATION (JETPACK COMPOSE)
</a:t>
            </a:r>
            <a:r>
              <a:rPr lang="en-US" sz="950">
                <a:solidFill>
                  <a:srgbClr val="A0AEC0"/>
                </a:solidFill>
                <a:latin typeface="Segoe UI" panose="020B0502040204020203" pitchFamily="34" charset="0"/>
              </a:rPr>
              <a:t>Declarative UI built with Material 3. Single-Activity architecture using StateFlow/SharedFlow. Screens: Home Feed, Real-Time Chat Hub, Nearby Radar, Marketplace Hub, Notifications, and Profile.</a:t>
            </a:r>
            <a:endParaRPr lang="en-IN" sz="950">
              <a:solidFill>
                <a:srgbClr val="A0AEC0"/>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3E1236CA-D217-DCC1-162A-69E27C2A7B68}"/>
              </a:ext>
            </a:extLst>
          </p:cNvPr>
          <p:cNvSpPr/>
          <p:nvPr/>
        </p:nvSpPr>
        <p:spPr>
          <a:xfrm>
            <a:off x="635000" y="23622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US" sz="1100" b="1">
                <a:solidFill>
                  <a:srgbClr val="FFFFFF"/>
                </a:solidFill>
                <a:latin typeface="Segoe UI" panose="020B0502040204020203" pitchFamily="34" charset="0"/>
              </a:rPr>
              <a:t>⚙️  LAYER 2: DOMAIN &amp; USE CASES (CLEAN ARCHITECTURE)
</a:t>
            </a:r>
            <a:r>
              <a:rPr lang="en-US" sz="950">
                <a:solidFill>
                  <a:srgbClr val="A0AEC0"/>
                </a:solidFill>
                <a:latin typeface="Segoe UI" panose="020B0502040204020203" pitchFamily="34" charset="0"/>
              </a:rPr>
              <a:t>Pure Kotlin business logic decoupled from Android SDK. Dedicated use cases for Auth, Messaging, Post Creation, Geolocation Filtering, and Offline Queue Enqueueing.</a:t>
            </a:r>
            <a:endParaRPr lang="en-IN" sz="950">
              <a:solidFill>
                <a:srgbClr val="A0AEC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45042EF1-F954-458C-7EAC-3CD97917E9B8}"/>
              </a:ext>
            </a:extLst>
          </p:cNvPr>
          <p:cNvSpPr/>
          <p:nvPr/>
        </p:nvSpPr>
        <p:spPr>
          <a:xfrm>
            <a:off x="635000" y="33274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1100" b="1">
                <a:solidFill>
                  <a:srgbClr val="00C49F"/>
                </a:solidFill>
                <a:latin typeface="Segoe UI" panose="020B0502040204020203" pitchFamily="34" charset="0"/>
              </a:rPr>
              <a:t>⚙️  LAYER 3: DATA REPOSITORY &amp; LOCAL ROOM SQLITE
</a:t>
            </a:r>
            <a:r>
              <a:rPr lang="en-IN" sz="950">
                <a:solidFill>
                  <a:srgbClr val="A0AEC0"/>
                </a:solidFill>
                <a:latin typeface="Segoe UI" panose="020B0502040204020203" pitchFamily="34" charset="0"/>
              </a:rPr>
              <a:t>Repository pattern providing single source of truth. Offline-first local database caching all posts, messages, and profiles. Android WorkManager handles background synchronization.</a:t>
            </a:r>
          </a:p>
        </p:txBody>
      </p:sp>
      <p:sp>
        <p:nvSpPr>
          <p:cNvPr id="11" name="Rectangle: Rounded Corners 10">
            <a:extLst>
              <a:ext uri="{FF2B5EF4-FFF2-40B4-BE49-F238E27FC236}">
                <a16:creationId xmlns:a16="http://schemas.microsoft.com/office/drawing/2014/main" id="{CE9BCFB6-9BE9-87FD-030B-819A97D5A3C0}"/>
              </a:ext>
            </a:extLst>
          </p:cNvPr>
          <p:cNvSpPr/>
          <p:nvPr/>
        </p:nvSpPr>
        <p:spPr>
          <a:xfrm>
            <a:off x="635000" y="42926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1100" b="1">
                <a:solidFill>
                  <a:srgbClr val="FFC300"/>
                </a:solidFill>
                <a:latin typeface="Segoe UI" panose="020B0502040204020203" pitchFamily="34" charset="0"/>
              </a:rPr>
              <a:t>⚙️  LAYER 4: REMOTE NETWORK, REALTIME &amp; MEDIA CDN
</a:t>
            </a:r>
            <a:r>
              <a:rPr lang="en-IN" sz="950">
                <a:solidFill>
                  <a:srgbClr val="A0AEC0"/>
                </a:solidFill>
                <a:latin typeface="Segoe UI" panose="020B0502040204020203" pitchFamily="34" charset="0"/>
              </a:rPr>
              <a:t>Ktor HTTP/WebSocket Client connecting to Supabase PostgREST &amp; Realtime channels. Cloudinary unsigned direct client upload for media files with on-device thumbnail compression.</a:t>
            </a:r>
          </a:p>
        </p:txBody>
      </p:sp>
      <p:sp>
        <p:nvSpPr>
          <p:cNvPr id="12" name="Rectangle: Rounded Corners 11">
            <a:extLst>
              <a:ext uri="{FF2B5EF4-FFF2-40B4-BE49-F238E27FC236}">
                <a16:creationId xmlns:a16="http://schemas.microsoft.com/office/drawing/2014/main" id="{36166B4A-3F51-7424-8EE4-0E2B18C3CADE}"/>
              </a:ext>
            </a:extLst>
          </p:cNvPr>
          <p:cNvSpPr/>
          <p:nvPr/>
        </p:nvSpPr>
        <p:spPr>
          <a:xfrm>
            <a:off x="635000" y="52578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1100" b="1">
                <a:solidFill>
                  <a:srgbClr val="FF7F11"/>
                </a:solidFill>
                <a:latin typeface="Segoe UI" panose="020B0502040204020203" pitchFamily="34" charset="0"/>
              </a:rPr>
              <a:t>⚙️  LAYER 5: CLOUD DATABASE &amp; EVENT DISPATCHER
</a:t>
            </a:r>
            <a:r>
              <a:rPr lang="en-IN" sz="950">
                <a:solidFill>
                  <a:srgbClr val="A0AEC0"/>
                </a:solidFill>
                <a:latin typeface="Segoe UI" panose="020B0502040204020203" pitchFamily="34" charset="0"/>
              </a:rPr>
              <a:t>Supabase PostgreSQL 15 with Row-Level Security (RLS) policies. Automated SQL triggers for message receipts, activity notifications, and FastAPI cloud webhook integration.</a:t>
            </a:r>
          </a:p>
        </p:txBody>
      </p:sp>
    </p:spTree>
    <p:extLst>
      <p:ext uri="{BB962C8B-B14F-4D97-AF65-F5344CB8AC3E}">
        <p14:creationId xmlns:p14="http://schemas.microsoft.com/office/powerpoint/2010/main" val="1908990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7D5D12-6F6E-1EAD-BE5A-787B9F9D84AC}"/>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2393B13-1862-616B-5119-9E42A1147F04}"/>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DATA SECURITY</a:t>
            </a:r>
          </a:p>
        </p:txBody>
      </p:sp>
      <p:sp>
        <p:nvSpPr>
          <p:cNvPr id="4" name="TextBox 3">
            <a:extLst>
              <a:ext uri="{FF2B5EF4-FFF2-40B4-BE49-F238E27FC236}">
                <a16:creationId xmlns:a16="http://schemas.microsoft.com/office/drawing/2014/main" id="{5E589DCA-AA69-711A-8ED1-3E4C04A063F7}"/>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Security &amp; Privacy: Sentinel Multi-Tier Defense Architecture</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E40392B7-D388-60C5-0651-E07C9E0ADE82}"/>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06 / 16</a:t>
            </a:r>
          </a:p>
        </p:txBody>
      </p:sp>
      <p:sp>
        <p:nvSpPr>
          <p:cNvPr id="6" name="Rectangle 5">
            <a:extLst>
              <a:ext uri="{FF2B5EF4-FFF2-40B4-BE49-F238E27FC236}">
                <a16:creationId xmlns:a16="http://schemas.microsoft.com/office/drawing/2014/main" id="{E289CC56-04E1-613F-78CB-736F681D1756}"/>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B019669-C552-CE7D-D0F8-F6DF57298EEF}"/>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849D8F11-943A-EA65-7B1B-FD12C52DD8CB}"/>
              </a:ext>
            </a:extLst>
          </p:cNvPr>
          <p:cNvSpPr/>
          <p:nvPr/>
        </p:nvSpPr>
        <p:spPr>
          <a:xfrm>
            <a:off x="635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00B4D8"/>
                </a:solidFill>
                <a:latin typeface="Segoe UI" panose="020B0502040204020203" pitchFamily="34" charset="0"/>
              </a:rPr>
              <a:t>🛡️  AES-GCM-256 CLIENT ENCRYPTION
</a:t>
            </a:r>
            <a:r>
              <a:rPr lang="en-IN" sz="1000">
                <a:solidFill>
                  <a:srgbClr val="A0AEC0"/>
                </a:solidFill>
                <a:latin typeface="Segoe UI" panose="020B0502040204020203" pitchFamily="34" charset="0"/>
              </a:rPr>
              <a:t>
• Chat message payloads are encrypted client-side using authenticated AES-GCM-256.
• Ephemeral session keys derived on-device.
• No unencrypted message content reaches public server logs.
• Cryptographic integrity check prevents tampering.</a:t>
            </a:r>
          </a:p>
        </p:txBody>
      </p:sp>
      <p:sp>
        <p:nvSpPr>
          <p:cNvPr id="9" name="Rectangle: Rounded Corners 8">
            <a:extLst>
              <a:ext uri="{FF2B5EF4-FFF2-40B4-BE49-F238E27FC236}">
                <a16:creationId xmlns:a16="http://schemas.microsoft.com/office/drawing/2014/main" id="{A23F0F09-F6C5-457B-8C24-1A16BDB59349}"/>
              </a:ext>
            </a:extLst>
          </p:cNvPr>
          <p:cNvSpPr/>
          <p:nvPr/>
        </p:nvSpPr>
        <p:spPr>
          <a:xfrm>
            <a:off x="6223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US" sz="1150" b="1">
                <a:solidFill>
                  <a:srgbClr val="00C49F"/>
                </a:solidFill>
                <a:latin typeface="Segoe UI" panose="020B0502040204020203" pitchFamily="34" charset="0"/>
              </a:rPr>
              <a:t>🛡️  ROW LEVEL SECURITY (RLS)
</a:t>
            </a:r>
            <a:r>
              <a:rPr lang="en-US" sz="1000">
                <a:solidFill>
                  <a:srgbClr val="A0AEC0"/>
                </a:solidFill>
                <a:latin typeface="Segoe UI" panose="020B0502040204020203" pitchFamily="34" charset="0"/>
              </a:rPr>
              <a:t>
• Strict PostgreSQL Row-Level Security policies active across all 13 tables.
• Users can only query their own private messages and conversation memberships.
• Zero data leakage across tenants or users.
• Enforced directly at the database engine level.</a:t>
            </a:r>
            <a:endParaRPr lang="en-IN" sz="1000">
              <a:solidFill>
                <a:srgbClr val="A0AEC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8BFC9B93-B1C0-F1C2-F755-DCBE487297A2}"/>
              </a:ext>
            </a:extLst>
          </p:cNvPr>
          <p:cNvSpPr/>
          <p:nvPr/>
        </p:nvSpPr>
        <p:spPr>
          <a:xfrm>
            <a:off x="635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C300"/>
                </a:solidFill>
                <a:latin typeface="Segoe UI" panose="020B0502040204020203" pitchFamily="34" charset="0"/>
              </a:rPr>
              <a:t>🛡️  HARDENED IDENTITY RESOLUTION
</a:t>
            </a:r>
            <a:r>
              <a:rPr lang="en-IN" sz="1000">
                <a:solidFill>
                  <a:srgbClr val="A0AEC0"/>
                </a:solidFill>
                <a:latin typeface="Segoe UI" panose="020B0502040204020203" pitchFamily="34" charset="0"/>
              </a:rPr>
              <a:t>
• GoTrue JWT tokens with automated background silent token refresh.
• Passwords secured via industry-standard Argon2 / Bcrypt hashing.
• Multi-tier fallback prevents authentication deadlocks during network blips.
• Encrypted local SharedPreferences storage.</a:t>
            </a:r>
          </a:p>
        </p:txBody>
      </p:sp>
      <p:sp>
        <p:nvSpPr>
          <p:cNvPr id="11" name="Rectangle: Rounded Corners 10">
            <a:extLst>
              <a:ext uri="{FF2B5EF4-FFF2-40B4-BE49-F238E27FC236}">
                <a16:creationId xmlns:a16="http://schemas.microsoft.com/office/drawing/2014/main" id="{383C92B0-0B4E-6D21-07B8-F0FA9AEDCCB5}"/>
              </a:ext>
            </a:extLst>
          </p:cNvPr>
          <p:cNvSpPr/>
          <p:nvPr/>
        </p:nvSpPr>
        <p:spPr>
          <a:xfrm>
            <a:off x="6223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7F11"/>
                </a:solidFill>
                <a:latin typeface="Segoe UI" panose="020B0502040204020203" pitchFamily="34" charset="0"/>
              </a:rPr>
              <a:t>🛡️  PRIVACY BY DESIGN &amp; ZERO TRACKING
</a:t>
            </a:r>
            <a:r>
              <a:rPr lang="en-IN" sz="1000">
                <a:solidFill>
                  <a:srgbClr val="A0AEC0"/>
                </a:solidFill>
                <a:latin typeface="Segoe UI" panose="020B0502040204020203" pitchFamily="34" charset="0"/>
              </a:rPr>
              <a:t>
• Nearby Discovery Radar utilizes fuzzy location offsets to prevent exact tracking.
• Ephemeral status stories automatically expire after 24 hours (strict TTL).
• Zero background behavioral profiling, ad tracking SDKs, or foreign analytics trackers.</a:t>
            </a:r>
          </a:p>
        </p:txBody>
      </p:sp>
    </p:spTree>
    <p:extLst>
      <p:ext uri="{BB962C8B-B14F-4D97-AF65-F5344CB8AC3E}">
        <p14:creationId xmlns:p14="http://schemas.microsoft.com/office/powerpoint/2010/main" val="1721313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48DFF7-8C2F-865B-0B9D-B957BC68D171}"/>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6F1868A-A90E-038B-0EB3-7F0704D1BA94}"/>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FEATURE SPOTLIGHT</a:t>
            </a:r>
          </a:p>
        </p:txBody>
      </p:sp>
      <p:sp>
        <p:nvSpPr>
          <p:cNvPr id="4" name="TextBox 3">
            <a:extLst>
              <a:ext uri="{FF2B5EF4-FFF2-40B4-BE49-F238E27FC236}">
                <a16:creationId xmlns:a16="http://schemas.microsoft.com/office/drawing/2014/main" id="{B84BC103-5170-9720-F013-7A92B8AFE605}"/>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Feature Deep-Dive: Real-Time Chat, Radar &amp; Marketplace</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A9EB9064-3652-06AA-6F61-B3E76B73367B}"/>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07 / 16</a:t>
            </a:r>
          </a:p>
        </p:txBody>
      </p:sp>
      <p:sp>
        <p:nvSpPr>
          <p:cNvPr id="6" name="Rectangle 5">
            <a:extLst>
              <a:ext uri="{FF2B5EF4-FFF2-40B4-BE49-F238E27FC236}">
                <a16:creationId xmlns:a16="http://schemas.microsoft.com/office/drawing/2014/main" id="{6B373C92-A696-824F-1717-4F6D6A54D978}"/>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7F94F4E-6E1F-EB1A-95A0-863914802CEF}"/>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C226F3DA-B448-574F-26E8-A18AD57972C7}"/>
              </a:ext>
            </a:extLst>
          </p:cNvPr>
          <p:cNvSpPr/>
          <p:nvPr/>
        </p:nvSpPr>
        <p:spPr>
          <a:xfrm>
            <a:off x="635000" y="1397000"/>
            <a:ext cx="35560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00B4D8"/>
                </a:solidFill>
                <a:latin typeface="Segoe UI" panose="020B0502040204020203" pitchFamily="34" charset="0"/>
              </a:rPr>
              <a:t>✨  ENCRYPTED CHAT HUB
</a:t>
            </a:r>
            <a:r>
              <a:rPr lang="en-IN" sz="980">
                <a:solidFill>
                  <a:srgbClr val="A0AEC0"/>
                </a:solidFill>
                <a:latin typeface="Segoe UI" panose="020B0502040204020203" pitchFamily="34" charset="0"/>
              </a:rPr>
              <a:t>
• Individual, Group, and Community tabs.
• WhatsApp-Style Multi-State Ticks:
   ⏳ Pending | ✓ Sent | ✓✓ Delivered | ✓✓ Blue Read
• Rich Attachment Sheet:
   Camera, Photo Gallery, PDF Docs, GPS Location, Contacts.
• Built-in categorized emoji picker drawer.
• Outbound bubble alignment with profile resolution.
• Instant notification auto-dismiss on chat open.</a:t>
            </a:r>
          </a:p>
        </p:txBody>
      </p:sp>
      <p:sp>
        <p:nvSpPr>
          <p:cNvPr id="9" name="Rectangle: Rounded Corners 8">
            <a:extLst>
              <a:ext uri="{FF2B5EF4-FFF2-40B4-BE49-F238E27FC236}">
                <a16:creationId xmlns:a16="http://schemas.microsoft.com/office/drawing/2014/main" id="{D7847582-F2D4-0F60-87F1-8AC8AB4EA5C4}"/>
              </a:ext>
            </a:extLst>
          </p:cNvPr>
          <p:cNvSpPr/>
          <p:nvPr/>
        </p:nvSpPr>
        <p:spPr>
          <a:xfrm>
            <a:off x="4356100" y="1397000"/>
            <a:ext cx="35560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00C49F"/>
                </a:solidFill>
                <a:latin typeface="Segoe UI" panose="020B0502040204020203" pitchFamily="34" charset="0"/>
              </a:rPr>
              <a:t>✨  NEARBY DISCOVERY RADAR
</a:t>
            </a:r>
            <a:r>
              <a:rPr lang="en-IN" sz="980">
                <a:solidFill>
                  <a:srgbClr val="A0AEC0"/>
                </a:solidFill>
                <a:latin typeface="Segoe UI" panose="020B0502040204020203" pitchFamily="34" charset="0"/>
              </a:rPr>
              <a:t>
• Real-Time Geolocation Pulse Radar:
   Animated circular radar beam with live distance calculations.
• Dynamic Radius Filtering:
   Switch between 1 km, 5 km, and 10 km boundaries.
• Privacy Masking:
   1-Tap toggle to hide location or make profile discoverable.
• 1-Tap Direct Messaging:
   Initiate direct conversation with nearby users instantly.</a:t>
            </a:r>
          </a:p>
        </p:txBody>
      </p:sp>
      <p:sp>
        <p:nvSpPr>
          <p:cNvPr id="10" name="Rectangle: Rounded Corners 9">
            <a:extLst>
              <a:ext uri="{FF2B5EF4-FFF2-40B4-BE49-F238E27FC236}">
                <a16:creationId xmlns:a16="http://schemas.microsoft.com/office/drawing/2014/main" id="{231DD61C-6641-401A-A2E6-04591B7AD074}"/>
              </a:ext>
            </a:extLst>
          </p:cNvPr>
          <p:cNvSpPr/>
          <p:nvPr/>
        </p:nvSpPr>
        <p:spPr>
          <a:xfrm>
            <a:off x="8077200" y="1397000"/>
            <a:ext cx="35560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7F11"/>
                </a:solidFill>
                <a:latin typeface="Segoe UI" panose="020B0502040204020203" pitchFamily="34" charset="0"/>
              </a:rPr>
              <a:t>✨  3-IN-1 MARKETPLACE HUB
</a:t>
            </a:r>
            <a:r>
              <a:rPr lang="en-IN" sz="980">
                <a:solidFill>
                  <a:srgbClr val="A0AEC0"/>
                </a:solidFill>
                <a:latin typeface="Segoe UI" panose="020B0502040204020203" pitchFamily="34" charset="0"/>
              </a:rPr>
              <a:t>
• Pre-Owned Classified Items:
   Buy &amp; sell electronics, furniture, vehicles in Indian Rupees (₹).
• Local Career Jobs:
   Salary ranges, full-time/part-time filters &amp; 1-tap direct apply.
• Quick Gigs (Micro-Tasks):
   Instant neighborhood tasks (deliveries, repairs, errands) with transparent immediate payouts.
• Middleman-Free Direct Contact.</a:t>
            </a:r>
          </a:p>
        </p:txBody>
      </p:sp>
    </p:spTree>
    <p:extLst>
      <p:ext uri="{BB962C8B-B14F-4D97-AF65-F5344CB8AC3E}">
        <p14:creationId xmlns:p14="http://schemas.microsoft.com/office/powerpoint/2010/main" val="331891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18CDB2-6274-0634-BBFC-C50E85AC78EC}"/>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907E4FF-1EC9-7DE3-275B-BE0317C13407}"/>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TECHNOLOGY STACK</a:t>
            </a:r>
          </a:p>
        </p:txBody>
      </p:sp>
      <p:sp>
        <p:nvSpPr>
          <p:cNvPr id="4" name="TextBox 3">
            <a:extLst>
              <a:ext uri="{FF2B5EF4-FFF2-40B4-BE49-F238E27FC236}">
                <a16:creationId xmlns:a16="http://schemas.microsoft.com/office/drawing/2014/main" id="{92BDE84E-6253-90BD-A56F-BF9FCBB93CCC}"/>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Engineering Stack: Current Tools, Protocols &amp; Methods</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9F5BD6E5-C29F-760A-B4ED-EDC71C78020E}"/>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08 / 16</a:t>
            </a:r>
          </a:p>
        </p:txBody>
      </p:sp>
      <p:sp>
        <p:nvSpPr>
          <p:cNvPr id="6" name="Rectangle 5">
            <a:extLst>
              <a:ext uri="{FF2B5EF4-FFF2-40B4-BE49-F238E27FC236}">
                <a16:creationId xmlns:a16="http://schemas.microsoft.com/office/drawing/2014/main" id="{36DF3351-918E-B6F5-2F35-C7F79A4DF426}"/>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14727C0-5314-53F8-3160-CEE9DB7F5F63}"/>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8FEFB14F-28DF-D5F1-95EF-399A3689A908}"/>
              </a:ext>
            </a:extLst>
          </p:cNvPr>
          <p:cNvSpPr/>
          <p:nvPr/>
        </p:nvSpPr>
        <p:spPr>
          <a:xfrm>
            <a:off x="635000" y="1397000"/>
            <a:ext cx="26416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050" b="1">
                <a:solidFill>
                  <a:srgbClr val="00B4D8"/>
                </a:solidFill>
                <a:latin typeface="Segoe UI" panose="020B0502040204020203" pitchFamily="34" charset="0"/>
              </a:rPr>
              <a:t>🛠️  CLIENT &amp; UI TOOLING
</a:t>
            </a:r>
            <a:r>
              <a:rPr lang="en-IN" sz="950">
                <a:solidFill>
                  <a:srgbClr val="A0AEC0"/>
                </a:solidFill>
                <a:latin typeface="Segoe UI" panose="020B0502040204020203" pitchFamily="34" charset="0"/>
              </a:rPr>
              <a:t>
• Kotlin 1.9.23 (JVM 19 target)
• Jetpack Compose 1.5 (Material 3)
• AndroidX Lifecycle &amp; Coroutines Flow
• AndroidX Navigation Compose
• Coil 2.6 for asynchronous image rendering
• Shimmer effect skeleton loading</a:t>
            </a:r>
          </a:p>
        </p:txBody>
      </p:sp>
      <p:sp>
        <p:nvSpPr>
          <p:cNvPr id="9" name="Rectangle: Rounded Corners 8">
            <a:extLst>
              <a:ext uri="{FF2B5EF4-FFF2-40B4-BE49-F238E27FC236}">
                <a16:creationId xmlns:a16="http://schemas.microsoft.com/office/drawing/2014/main" id="{64D86E56-8244-D735-6ED7-138C61427311}"/>
              </a:ext>
            </a:extLst>
          </p:cNvPr>
          <p:cNvSpPr/>
          <p:nvPr/>
        </p:nvSpPr>
        <p:spPr>
          <a:xfrm>
            <a:off x="3403600" y="1397000"/>
            <a:ext cx="26416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050" b="1">
                <a:solidFill>
                  <a:srgbClr val="00C49F"/>
                </a:solidFill>
                <a:latin typeface="Segoe UI" panose="020B0502040204020203" pitchFamily="34" charset="0"/>
              </a:rPr>
              <a:t>🛠️  PERSISTENCE &amp; SYNC
</a:t>
            </a:r>
            <a:r>
              <a:rPr lang="en-IN" sz="950">
                <a:solidFill>
                  <a:srgbClr val="A0AEC0"/>
                </a:solidFill>
                <a:latin typeface="Segoe UI" panose="020B0502040204020203" pitchFamily="34" charset="0"/>
              </a:rPr>
              <a:t>
• Room SQLite 2.6 (`AppDatabase`)
• TypeConverters for custom entities
• AndroidX WorkManager 2.9 (`SyncWorker`)
• Optimistic Local UI State Mutation
• Dual Sync: WebSocket + 2.0s Polling
• Multi-tier Session Resolution engine</a:t>
            </a:r>
          </a:p>
        </p:txBody>
      </p:sp>
      <p:sp>
        <p:nvSpPr>
          <p:cNvPr id="10" name="Rectangle: Rounded Corners 9">
            <a:extLst>
              <a:ext uri="{FF2B5EF4-FFF2-40B4-BE49-F238E27FC236}">
                <a16:creationId xmlns:a16="http://schemas.microsoft.com/office/drawing/2014/main" id="{AEDA8A1B-9A28-384A-5B8F-D466D2D7FA4C}"/>
              </a:ext>
            </a:extLst>
          </p:cNvPr>
          <p:cNvSpPr/>
          <p:nvPr/>
        </p:nvSpPr>
        <p:spPr>
          <a:xfrm>
            <a:off x="6172200" y="1397000"/>
            <a:ext cx="26416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050" b="1">
                <a:solidFill>
                  <a:srgbClr val="FFC300"/>
                </a:solidFill>
                <a:latin typeface="Segoe UI" panose="020B0502040204020203" pitchFamily="34" charset="0"/>
              </a:rPr>
              <a:t>🛠️  CLOUD BACKEND &amp; </a:t>
            </a:r>
            <a:r>
              <a:rPr lang="en-IN" sz="1050" b="1">
                <a:solidFill>
                  <a:srgbClr val="A0AEC0"/>
                </a:solidFill>
                <a:latin typeface="Segoe UI" panose="020B0502040204020203" pitchFamily="34" charset="0"/>
              </a:rPr>
              <a:t>NETWORK
</a:t>
            </a:r>
            <a:r>
              <a:rPr lang="en-IN" sz="950">
                <a:solidFill>
                  <a:srgbClr val="A0AEC0"/>
                </a:solidFill>
                <a:latin typeface="Segoe UI" panose="020B0502040204020203" pitchFamily="34" charset="0"/>
              </a:rPr>
              <a:t>
• Supabase SDK (Ktor HTTP Client)
• Supabase Realtime Channels (WebSockets)
• PostgreSQL 15 with Row-Level Security
• GoTrue Auth (OTP / Password / Reset)
• Cloudinary CDN for direct binary uploads
• FastAPI Python 3.11 webhook microservice</a:t>
            </a:r>
          </a:p>
        </p:txBody>
      </p:sp>
      <p:sp>
        <p:nvSpPr>
          <p:cNvPr id="11" name="Rectangle: Rounded Corners 10">
            <a:extLst>
              <a:ext uri="{FF2B5EF4-FFF2-40B4-BE49-F238E27FC236}">
                <a16:creationId xmlns:a16="http://schemas.microsoft.com/office/drawing/2014/main" id="{6358FF98-51B0-154B-232A-0AF02A9F83A8}"/>
              </a:ext>
            </a:extLst>
          </p:cNvPr>
          <p:cNvSpPr/>
          <p:nvPr/>
        </p:nvSpPr>
        <p:spPr>
          <a:xfrm>
            <a:off x="8940800" y="1397000"/>
            <a:ext cx="26416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050" b="1">
                <a:solidFill>
                  <a:srgbClr val="FF7F11"/>
                </a:solidFill>
                <a:latin typeface="Segoe UI" panose="020B0502040204020203" pitchFamily="34" charset="0"/>
              </a:rPr>
              <a:t>🛠️  BUILD &amp; QUALITY PIPELINE
</a:t>
            </a:r>
            <a:r>
              <a:rPr lang="en-IN" sz="950">
                <a:solidFill>
                  <a:srgbClr val="A0AEC0"/>
                </a:solidFill>
                <a:latin typeface="Segoe UI" panose="020B0502040204020203" pitchFamily="34" charset="0"/>
              </a:rPr>
              <a:t>
• Gradle 8.9 with Kotlin DSL
• ProGuard/R8 byte-code optimization
• JUnit 4 &amp; MockK test harnesses
• 27 passing automated test suites
• Windows 1-Click build launcher (`.bat`)
• Strict immutable changelog auditing</a:t>
            </a:r>
          </a:p>
        </p:txBody>
      </p:sp>
    </p:spTree>
    <p:extLst>
      <p:ext uri="{BB962C8B-B14F-4D97-AF65-F5344CB8AC3E}">
        <p14:creationId xmlns:p14="http://schemas.microsoft.com/office/powerpoint/2010/main" val="1853375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E1793D-20AF-9520-6FDF-E421B27D5EFA}"/>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92A3F8D-B682-5FBD-A989-C7CCA96D1AC5}"/>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HARDWARE &amp; INFRASTRUCTURE</a:t>
            </a:r>
          </a:p>
        </p:txBody>
      </p:sp>
      <p:sp>
        <p:nvSpPr>
          <p:cNvPr id="4" name="TextBox 3">
            <a:extLst>
              <a:ext uri="{FF2B5EF4-FFF2-40B4-BE49-F238E27FC236}">
                <a16:creationId xmlns:a16="http://schemas.microsoft.com/office/drawing/2014/main" id="{1D9966EA-130B-1F34-66EB-59C84A521C12}"/>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Current Infrastructure: Cloud Assets, Workstations &amp; Equipments</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18B83410-5F24-EC39-3AD4-B551D5E94AEB}"/>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09 / 16</a:t>
            </a:r>
          </a:p>
        </p:txBody>
      </p:sp>
      <p:sp>
        <p:nvSpPr>
          <p:cNvPr id="6" name="Rectangle 5">
            <a:extLst>
              <a:ext uri="{FF2B5EF4-FFF2-40B4-BE49-F238E27FC236}">
                <a16:creationId xmlns:a16="http://schemas.microsoft.com/office/drawing/2014/main" id="{C8F5009D-E9AB-6B96-E37B-749A84BA1326}"/>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5B5CBA6-7342-5C93-D581-9AB98B091AC8}"/>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DBD0C8E3-4FEB-DDCD-D2F5-EE4D83DCFBCA}"/>
              </a:ext>
            </a:extLst>
          </p:cNvPr>
          <p:cNvSpPr/>
          <p:nvPr/>
        </p:nvSpPr>
        <p:spPr>
          <a:xfrm>
            <a:off x="635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00B4D8"/>
                </a:solidFill>
                <a:latin typeface="Segoe UI" panose="020B0502040204020203" pitchFamily="34" charset="0"/>
              </a:rPr>
              <a:t>🖥️  CLOUD DATABASE &amp; COMPUTE NODES
</a:t>
            </a:r>
            <a:r>
              <a:rPr lang="en-IN" sz="1000">
                <a:solidFill>
                  <a:srgbClr val="A0AEC0"/>
                </a:solidFill>
                <a:latin typeface="Segoe UI" panose="020B0502040204020203" pitchFamily="34" charset="0"/>
              </a:rPr>
              <a:t>
• Supabase Managed PostgreSQL Cluster:
   PostgreSQL 15 running with PgBouncer connection pooling.
• Realtime Webhook &amp; WebSocket Gateway:
   Zero-delay pub/sub event broadcasting.
• Cloud Security Isolation:
   Automated SSL/TLS termination and DDoS filtering.</a:t>
            </a:r>
          </a:p>
        </p:txBody>
      </p:sp>
      <p:sp>
        <p:nvSpPr>
          <p:cNvPr id="9" name="Rectangle: Rounded Corners 8">
            <a:extLst>
              <a:ext uri="{FF2B5EF4-FFF2-40B4-BE49-F238E27FC236}">
                <a16:creationId xmlns:a16="http://schemas.microsoft.com/office/drawing/2014/main" id="{05B13DA5-3A21-B27C-FB04-853F04740EC5}"/>
              </a:ext>
            </a:extLst>
          </p:cNvPr>
          <p:cNvSpPr/>
          <p:nvPr/>
        </p:nvSpPr>
        <p:spPr>
          <a:xfrm>
            <a:off x="6223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00C49F"/>
                </a:solidFill>
                <a:latin typeface="Segoe UI" panose="020B0502040204020203" pitchFamily="34" charset="0"/>
              </a:rPr>
              <a:t>🖥️  GLOBAL MEDIA STORAGE &amp; CDN
</a:t>
            </a:r>
            <a:r>
              <a:rPr lang="en-IN" sz="1000">
                <a:solidFill>
                  <a:srgbClr val="A0AEC0"/>
                </a:solidFill>
                <a:latin typeface="Segoe UI" panose="020B0502040204020203" pitchFamily="34" charset="0"/>
              </a:rPr>
              <a:t>
• Cloudinary Multi-Region CDN Cluster:
   Automated image/video format transcoding (WebP, AVIF).
• Edge-Cached Binary Storage:
   Sub-50ms media delivery across Indian internet providers.
• Client-Side Direct Upload Endpoints:
   Zero server proxy bandwidth overhead.</a:t>
            </a:r>
          </a:p>
        </p:txBody>
      </p:sp>
      <p:sp>
        <p:nvSpPr>
          <p:cNvPr id="10" name="Rectangle: Rounded Corners 9">
            <a:extLst>
              <a:ext uri="{FF2B5EF4-FFF2-40B4-BE49-F238E27FC236}">
                <a16:creationId xmlns:a16="http://schemas.microsoft.com/office/drawing/2014/main" id="{A9A7564E-FA42-A371-5D05-F8391DB3B95C}"/>
              </a:ext>
            </a:extLst>
          </p:cNvPr>
          <p:cNvSpPr/>
          <p:nvPr/>
        </p:nvSpPr>
        <p:spPr>
          <a:xfrm>
            <a:off x="635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C300"/>
                </a:solidFill>
                <a:latin typeface="Segoe UI" panose="020B0502040204020203" pitchFamily="34" charset="0"/>
              </a:rPr>
              <a:t>🖥️  BUILD &amp; COMPILATION WORKSTATIONS
</a:t>
            </a:r>
            <a:r>
              <a:rPr lang="en-IN" sz="1000">
                <a:solidFill>
                  <a:srgbClr val="A0AEC0"/>
                </a:solidFill>
                <a:latin typeface="Segoe UI" panose="020B0502040204020203" pitchFamily="34" charset="0"/>
              </a:rPr>
              <a:t>
• High-Performance Engineering Workstations:
   Multi-core AMD/Intel development rigs with 32GB RAM.
• Android SDK Build Environment:
   Targeting API 34 (Android 14) with minSdk 24 (96%+ device reach).
• Java Development Kit 19 Toolchain:
   Automated Gradle daemon parallel compilation.</a:t>
            </a:r>
          </a:p>
        </p:txBody>
      </p:sp>
      <p:sp>
        <p:nvSpPr>
          <p:cNvPr id="11" name="Rectangle: Rounded Corners 10">
            <a:extLst>
              <a:ext uri="{FF2B5EF4-FFF2-40B4-BE49-F238E27FC236}">
                <a16:creationId xmlns:a16="http://schemas.microsoft.com/office/drawing/2014/main" id="{4C84D4C2-525B-488E-3E9D-F5C7143148F8}"/>
              </a:ext>
            </a:extLst>
          </p:cNvPr>
          <p:cNvSpPr/>
          <p:nvPr/>
        </p:nvSpPr>
        <p:spPr>
          <a:xfrm>
            <a:off x="6223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7F11"/>
                </a:solidFill>
                <a:latin typeface="Segoe UI" panose="020B0502040204020203" pitchFamily="34" charset="0"/>
              </a:rPr>
              <a:t>🖥️  PHYSICAL &amp; EMULATED TEST HARNESSES
</a:t>
            </a:r>
            <a:r>
              <a:rPr lang="en-IN" sz="1000">
                <a:solidFill>
                  <a:srgbClr val="A0AEC0"/>
                </a:solidFill>
                <a:latin typeface="Segoe UI" panose="020B0502040204020203" pitchFamily="34" charset="0"/>
              </a:rPr>
              <a:t>
• Physical Android Test Devices:
   Testing across varied screen densities (FHD+, HD) and RAM tiers (2GB - 8GB).
• Android Virtual Devices (AVD):
   Automated headless test execution via ADB.
• Network Throttling Simulators:
   Simulating 2G/3G packet loss, high latency, and airplane mode.</a:t>
            </a:r>
          </a:p>
        </p:txBody>
      </p:sp>
    </p:spTree>
    <p:extLst>
      <p:ext uri="{BB962C8B-B14F-4D97-AF65-F5344CB8AC3E}">
        <p14:creationId xmlns:p14="http://schemas.microsoft.com/office/powerpoint/2010/main" val="434197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D647B3-EAE9-17CF-8DCD-65FE1FEFA9C9}"/>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E88B23B-E6FC-2571-97D7-2D1F456AAB12}"/>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STRATEGIC ROADMAP</a:t>
            </a:r>
          </a:p>
        </p:txBody>
      </p:sp>
      <p:sp>
        <p:nvSpPr>
          <p:cNvPr id="4" name="TextBox 3">
            <a:extLst>
              <a:ext uri="{FF2B5EF4-FFF2-40B4-BE49-F238E27FC236}">
                <a16:creationId xmlns:a16="http://schemas.microsoft.com/office/drawing/2014/main" id="{291F9A9E-30EE-D878-0D5A-55A44BBD8AF0}"/>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Development Plan: From Foundation to Pan-India Scale</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66990551-A36F-B45A-0956-C7B604CC76BB}"/>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10 / 16</a:t>
            </a:r>
          </a:p>
        </p:txBody>
      </p:sp>
      <p:sp>
        <p:nvSpPr>
          <p:cNvPr id="6" name="Rectangle 5">
            <a:extLst>
              <a:ext uri="{FF2B5EF4-FFF2-40B4-BE49-F238E27FC236}">
                <a16:creationId xmlns:a16="http://schemas.microsoft.com/office/drawing/2014/main" id="{393D05A5-DBFA-E289-DCA0-59A1A5940419}"/>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56C794F2-7379-C03A-7D8E-6B32A8234C65}"/>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BB912A86-B2F4-8E25-65B0-6EED7AB5B66A}"/>
              </a:ext>
            </a:extLst>
          </p:cNvPr>
          <p:cNvSpPr/>
          <p:nvPr/>
        </p:nvSpPr>
        <p:spPr>
          <a:xfrm>
            <a:off x="635000" y="13970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1120" b="1">
                <a:solidFill>
                  <a:srgbClr val="00C49F"/>
                </a:solidFill>
                <a:latin typeface="Segoe UI" panose="020B0502040204020203" pitchFamily="34" charset="0"/>
              </a:rPr>
              <a:t>🚀  PHASE 1: FOUNDATION &amp; HARDENING (COMPLETED)
</a:t>
            </a:r>
            <a:r>
              <a:rPr lang="en-IN" sz="980">
                <a:solidFill>
                  <a:srgbClr val="A0AEC0"/>
                </a:solidFill>
                <a:latin typeface="Segoe UI" panose="020B0502040204020203" pitchFamily="34" charset="0"/>
              </a:rPr>
              <a:t>Native Jetpack Compose architecture • Room SQLite offline engine • Dual WebSocket sync • AES-GCM-256 E2EE • Standalone APK release.</a:t>
            </a:r>
          </a:p>
        </p:txBody>
      </p:sp>
      <p:sp>
        <p:nvSpPr>
          <p:cNvPr id="9" name="Rectangle: Rounded Corners 8">
            <a:extLst>
              <a:ext uri="{FF2B5EF4-FFF2-40B4-BE49-F238E27FC236}">
                <a16:creationId xmlns:a16="http://schemas.microsoft.com/office/drawing/2014/main" id="{EA3C307C-4D4B-9D3B-61FD-4126DB0F6935}"/>
              </a:ext>
            </a:extLst>
          </p:cNvPr>
          <p:cNvSpPr/>
          <p:nvPr/>
        </p:nvSpPr>
        <p:spPr>
          <a:xfrm>
            <a:off x="635000" y="23622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1120" b="1">
                <a:solidFill>
                  <a:srgbClr val="00B4D8"/>
                </a:solidFill>
                <a:latin typeface="Segoe UI" panose="020B0502040204020203" pitchFamily="34" charset="0"/>
              </a:rPr>
              <a:t>🚀  PHASE 2: OFF-GRID DECENTRALIZED MESH (Q4 2026)
</a:t>
            </a:r>
            <a:r>
              <a:rPr lang="en-IN" sz="980">
                <a:solidFill>
                  <a:srgbClr val="A0AEC0"/>
                </a:solidFill>
                <a:latin typeface="Segoe UI" panose="020B0502040204020203" pitchFamily="34" charset="0"/>
              </a:rPr>
              <a:t>Wi-Fi Direct &amp; Bluetooth Low Energy (BLE) multi-hop relay • True off-grid communication during network blackouts or disaster scenarios.</a:t>
            </a:r>
          </a:p>
        </p:txBody>
      </p:sp>
      <p:sp>
        <p:nvSpPr>
          <p:cNvPr id="10" name="Rectangle: Rounded Corners 9">
            <a:extLst>
              <a:ext uri="{FF2B5EF4-FFF2-40B4-BE49-F238E27FC236}">
                <a16:creationId xmlns:a16="http://schemas.microsoft.com/office/drawing/2014/main" id="{512EBF0E-CBA2-6E9E-A214-13C3BEAAB02B}"/>
              </a:ext>
            </a:extLst>
          </p:cNvPr>
          <p:cNvSpPr/>
          <p:nvPr/>
        </p:nvSpPr>
        <p:spPr>
          <a:xfrm>
            <a:off x="635000" y="33274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US" sz="1120" b="1">
                <a:solidFill>
                  <a:srgbClr val="FFC300"/>
                </a:solidFill>
                <a:latin typeface="Segoe UI" panose="020B0502040204020203" pitchFamily="34" charset="0"/>
              </a:rPr>
              <a:t>🚀  PHASE 3: BHARAT VERNACULAR AI &amp; VOICE (Q1 2027)
</a:t>
            </a:r>
            <a:r>
              <a:rPr lang="en-US" sz="980">
                <a:solidFill>
                  <a:srgbClr val="A0AEC0"/>
                </a:solidFill>
                <a:latin typeface="Segoe UI" panose="020B0502040204020203" pitchFamily="34" charset="0"/>
              </a:rPr>
              <a:t>Government Bhashini AI integration • Voice-first input and real-time translation across 22 scheduled Indian languages.</a:t>
            </a:r>
            <a:endParaRPr lang="en-IN" sz="980">
              <a:solidFill>
                <a:srgbClr val="A0AEC0"/>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C2556A95-3D47-A29C-6C02-A0F7785F02F3}"/>
              </a:ext>
            </a:extLst>
          </p:cNvPr>
          <p:cNvSpPr/>
          <p:nvPr/>
        </p:nvSpPr>
        <p:spPr>
          <a:xfrm>
            <a:off x="635000" y="42926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1120" b="1">
                <a:solidFill>
                  <a:srgbClr val="FF7F11"/>
                </a:solidFill>
                <a:latin typeface="Segoe UI" panose="020B0502040204020203" pitchFamily="34" charset="0"/>
              </a:rPr>
              <a:t>🚀  PHASE 4: UPI ESCROW &amp; ONDC COMMERCE (Q2 2027)
</a:t>
            </a:r>
            <a:r>
              <a:rPr lang="en-IN" sz="980">
                <a:solidFill>
                  <a:srgbClr val="A0AEC0"/>
                </a:solidFill>
                <a:latin typeface="Segoe UI" panose="020B0502040204020203" pitchFamily="34" charset="0"/>
              </a:rPr>
              <a:t>Direct UPI 2.0 deep linking • Automated micro-escrow for Quick Gig payouts • ONDC protocol integration for neighborhood commerce.</a:t>
            </a:r>
          </a:p>
        </p:txBody>
      </p:sp>
      <p:sp>
        <p:nvSpPr>
          <p:cNvPr id="12" name="Rectangle: Rounded Corners 11">
            <a:extLst>
              <a:ext uri="{FF2B5EF4-FFF2-40B4-BE49-F238E27FC236}">
                <a16:creationId xmlns:a16="http://schemas.microsoft.com/office/drawing/2014/main" id="{AAD36B3C-338B-29F4-E953-373C5E4FE5EA}"/>
              </a:ext>
            </a:extLst>
          </p:cNvPr>
          <p:cNvSpPr/>
          <p:nvPr/>
        </p:nvSpPr>
        <p:spPr>
          <a:xfrm>
            <a:off x="635000" y="5257800"/>
            <a:ext cx="10922000" cy="8382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1120" b="1">
                <a:solidFill>
                  <a:srgbClr val="FFFFFF"/>
                </a:solidFill>
                <a:latin typeface="Segoe UI" panose="020B0502040204020203" pitchFamily="34" charset="0"/>
              </a:rPr>
              <a:t>🚀  PHASE 5: NATIONAL EDGE SCALE &amp; CALLING (Q3 2027)
</a:t>
            </a:r>
            <a:r>
              <a:rPr lang="en-IN" sz="980">
                <a:solidFill>
                  <a:srgbClr val="A0AEC0"/>
                </a:solidFill>
                <a:latin typeface="Segoe UI" panose="020B0502040204020203" pitchFamily="34" charset="0"/>
              </a:rPr>
              <a:t>Low-latency WebRTC encrypted voice &amp; video calling • Sovereign edge clusters across Mumbai, Hyderabad, and Delhi NCR.</a:t>
            </a:r>
          </a:p>
        </p:txBody>
      </p:sp>
    </p:spTree>
    <p:extLst>
      <p:ext uri="{BB962C8B-B14F-4D97-AF65-F5344CB8AC3E}">
        <p14:creationId xmlns:p14="http://schemas.microsoft.com/office/powerpoint/2010/main" val="295379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D08C5C-B63D-3ACC-5944-E28EB11C3785}"/>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B9FB6B9-7B2B-4B44-163A-EADEF01DF43E}"/>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FUTURE TECHNOLOGIES</a:t>
            </a:r>
          </a:p>
        </p:txBody>
      </p:sp>
      <p:sp>
        <p:nvSpPr>
          <p:cNvPr id="4" name="TextBox 3">
            <a:extLst>
              <a:ext uri="{FF2B5EF4-FFF2-40B4-BE49-F238E27FC236}">
                <a16:creationId xmlns:a16="http://schemas.microsoft.com/office/drawing/2014/main" id="{D4F029E9-0379-8F93-B2B3-DC06C3236CAA}"/>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Future Tools &amp; Methods: Next-Gen Technology Integration</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06A9F5C1-AF07-BFAE-836D-805178923637}"/>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11 / 16</a:t>
            </a:r>
          </a:p>
        </p:txBody>
      </p:sp>
      <p:sp>
        <p:nvSpPr>
          <p:cNvPr id="6" name="Rectangle 5">
            <a:extLst>
              <a:ext uri="{FF2B5EF4-FFF2-40B4-BE49-F238E27FC236}">
                <a16:creationId xmlns:a16="http://schemas.microsoft.com/office/drawing/2014/main" id="{87AD8A48-03B0-A550-4843-9339D8C4BC0C}"/>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102808CE-B7AC-0701-9F4E-09D0D4643534}"/>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BFBE5553-F4D7-6205-CA76-781E3F334B08}"/>
              </a:ext>
            </a:extLst>
          </p:cNvPr>
          <p:cNvSpPr/>
          <p:nvPr/>
        </p:nvSpPr>
        <p:spPr>
          <a:xfrm>
            <a:off x="635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7F11"/>
                </a:solidFill>
                <a:latin typeface="Segoe UI" panose="020B0502040204020203" pitchFamily="34" charset="0"/>
              </a:rPr>
              <a:t>🔮  BHASHINI AI / AI4BHARAT VOICE ENGINE
</a:t>
            </a:r>
            <a:r>
              <a:rPr lang="en-IN" sz="1000">
                <a:solidFill>
                  <a:srgbClr val="A0AEC0"/>
                </a:solidFill>
                <a:latin typeface="Segoe UI" panose="020B0502040204020203" pitchFamily="34" charset="0"/>
              </a:rPr>
              <a:t>
• National Language Translation Mission (NLTM) API integration.
• Real-time speech-to-text and text-to-speech in Hindi, Tamil, Telugu, Bengali, Marathi, etc.
• Enables semi-literate and rural citizens to interact via natural voice prompts.
• Dialect-aware localized audio posts and stories.</a:t>
            </a:r>
          </a:p>
        </p:txBody>
      </p:sp>
      <p:sp>
        <p:nvSpPr>
          <p:cNvPr id="9" name="Rectangle: Rounded Corners 8">
            <a:extLst>
              <a:ext uri="{FF2B5EF4-FFF2-40B4-BE49-F238E27FC236}">
                <a16:creationId xmlns:a16="http://schemas.microsoft.com/office/drawing/2014/main" id="{56447F7B-D752-6676-EE24-A376142B425A}"/>
              </a:ext>
            </a:extLst>
          </p:cNvPr>
          <p:cNvSpPr/>
          <p:nvPr/>
        </p:nvSpPr>
        <p:spPr>
          <a:xfrm>
            <a:off x="6223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00B4D8"/>
                </a:solidFill>
                <a:latin typeface="Segoe UI" panose="020B0502040204020203" pitchFamily="34" charset="0"/>
              </a:rPr>
              <a:t>🔮  ANDROID NEARBY CONNECTIONS (BLE / NAN)
</a:t>
            </a:r>
            <a:r>
              <a:rPr lang="en-IN" sz="1000">
                <a:solidFill>
                  <a:srgbClr val="A0AEC0"/>
                </a:solidFill>
                <a:latin typeface="Segoe UI" panose="020B0502040204020203" pitchFamily="34" charset="0"/>
              </a:rPr>
              <a:t>
• Wi-Fi Aware (Neighbor Awareness Networking) and BLE multi-hop mesh.
• Zero-internet device-to-device peer relay.
• Emergency citizen broadcasting during floods, cyclones, or cellular tower failures.
• Automatic packet forwarding with cryptographic TTL.</a:t>
            </a:r>
          </a:p>
        </p:txBody>
      </p:sp>
      <p:sp>
        <p:nvSpPr>
          <p:cNvPr id="10" name="Rectangle: Rounded Corners 9">
            <a:extLst>
              <a:ext uri="{FF2B5EF4-FFF2-40B4-BE49-F238E27FC236}">
                <a16:creationId xmlns:a16="http://schemas.microsoft.com/office/drawing/2014/main" id="{056AFF63-AEF9-82A0-C394-451E90EE782A}"/>
              </a:ext>
            </a:extLst>
          </p:cNvPr>
          <p:cNvSpPr/>
          <p:nvPr/>
        </p:nvSpPr>
        <p:spPr>
          <a:xfrm>
            <a:off x="635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00C49F"/>
                </a:solidFill>
                <a:latin typeface="Segoe UI" panose="020B0502040204020203" pitchFamily="34" charset="0"/>
              </a:rPr>
              <a:t>🔮  WEBRTC &amp; LIVEKIT P2P CALLING
</a:t>
            </a:r>
            <a:r>
              <a:rPr lang="en-IN" sz="1000">
                <a:solidFill>
                  <a:srgbClr val="A0AEC0"/>
                </a:solidFill>
                <a:latin typeface="Segoe UI" panose="020B0502040204020203" pitchFamily="34" charset="0"/>
              </a:rPr>
              <a:t>
• Peer-to-peer end-to-end encrypted audio and video calling engine.
• Adaptive bitrate codecs (Opus &amp; AV1) optimized for high packet-loss 2G/3G connections.
• Direct peer connection with minimum cloud relay dependency.
• Group community audio huddles and town halls.</a:t>
            </a:r>
          </a:p>
        </p:txBody>
      </p:sp>
      <p:sp>
        <p:nvSpPr>
          <p:cNvPr id="11" name="Rectangle: Rounded Corners 10">
            <a:extLst>
              <a:ext uri="{FF2B5EF4-FFF2-40B4-BE49-F238E27FC236}">
                <a16:creationId xmlns:a16="http://schemas.microsoft.com/office/drawing/2014/main" id="{855F7832-FA72-B09A-2E5E-9D8D71FACCEC}"/>
              </a:ext>
            </a:extLst>
          </p:cNvPr>
          <p:cNvSpPr/>
          <p:nvPr/>
        </p:nvSpPr>
        <p:spPr>
          <a:xfrm>
            <a:off x="6223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C300"/>
                </a:solidFill>
                <a:latin typeface="Segoe UI" panose="020B0502040204020203" pitchFamily="34" charset="0"/>
              </a:rPr>
              <a:t>🔮  PGVECTOR &amp; HYPER-LOCAL SEMANTIC SEARCH
</a:t>
            </a:r>
            <a:r>
              <a:rPr lang="en-IN" sz="1000">
                <a:solidFill>
                  <a:srgbClr val="A0AEC0"/>
                </a:solidFill>
                <a:latin typeface="Segoe UI" panose="020B0502040204020203" pitchFamily="34" charset="0"/>
              </a:rPr>
              <a:t>
• Vector embeddings on PostgreSQL for contextual semantic matching.
• Smart matching between Quick Gig seekers and local employers based on skills.
• Localized recommendation engine without privacy-invasive ad tracking.
• On-device lightweight embeddings.</a:t>
            </a:r>
          </a:p>
        </p:txBody>
      </p:sp>
    </p:spTree>
    <p:extLst>
      <p:ext uri="{BB962C8B-B14F-4D97-AF65-F5344CB8AC3E}">
        <p14:creationId xmlns:p14="http://schemas.microsoft.com/office/powerpoint/2010/main" val="4021519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C59E75-7DAF-32CE-5076-7D3756B114BB}"/>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C4E577F-6980-A07F-346A-A6690D951AA7}"/>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INFRASTRUCTURE EXPANSION</a:t>
            </a:r>
          </a:p>
        </p:txBody>
      </p:sp>
      <p:sp>
        <p:nvSpPr>
          <p:cNvPr id="4" name="TextBox 3">
            <a:extLst>
              <a:ext uri="{FF2B5EF4-FFF2-40B4-BE49-F238E27FC236}">
                <a16:creationId xmlns:a16="http://schemas.microsoft.com/office/drawing/2014/main" id="{3A564395-4FB0-98D6-8827-4B0EAAC9A563}"/>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Future Infrastructure: Sovereign Data Centers &amp; Hardware Assets</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87C3D1ED-F54A-9D89-9AD7-270467E480AE}"/>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12 / 16</a:t>
            </a:r>
          </a:p>
        </p:txBody>
      </p:sp>
      <p:sp>
        <p:nvSpPr>
          <p:cNvPr id="6" name="Rectangle 5">
            <a:extLst>
              <a:ext uri="{FF2B5EF4-FFF2-40B4-BE49-F238E27FC236}">
                <a16:creationId xmlns:a16="http://schemas.microsoft.com/office/drawing/2014/main" id="{2378FDE9-3BBB-53E2-3ED4-565D8D6B6009}"/>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71B41C5-3B06-3956-408D-B518DE53A8E4}"/>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6DCF461E-7139-A270-9346-81756C6AF921}"/>
              </a:ext>
            </a:extLst>
          </p:cNvPr>
          <p:cNvSpPr/>
          <p:nvPr/>
        </p:nvSpPr>
        <p:spPr>
          <a:xfrm>
            <a:off x="635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00B4D8"/>
                </a:solidFill>
                <a:latin typeface="Segoe UI" panose="020B0502040204020203" pitchFamily="34" charset="0"/>
              </a:rPr>
              <a:t>🏗️  SOVEREIGN INDIAN DATA CENTER CLUSTERS
</a:t>
            </a:r>
            <a:r>
              <a:rPr lang="en-IN" sz="1000">
                <a:solidFill>
                  <a:srgbClr val="A0AEC0"/>
                </a:solidFill>
                <a:latin typeface="Segoe UI" panose="020B0502040204020203" pitchFamily="34" charset="0"/>
              </a:rPr>
              <a:t>
• Geo-distributed bare-metal and Kubernetes nodes in Mumbai, Hyderabad, and Noida.
• Partnering with MeitY-empaneled Indian cloud providers (Yotta / ESDS).
• 100% data residency within Indian sovereign borders.
• Low-latency sub-15ms edge round-trip time across all Indian telecom circles.</a:t>
            </a:r>
          </a:p>
        </p:txBody>
      </p:sp>
      <p:sp>
        <p:nvSpPr>
          <p:cNvPr id="9" name="Rectangle: Rounded Corners 8">
            <a:extLst>
              <a:ext uri="{FF2B5EF4-FFF2-40B4-BE49-F238E27FC236}">
                <a16:creationId xmlns:a16="http://schemas.microsoft.com/office/drawing/2014/main" id="{0E837A94-7814-4EF5-2A58-9B7E7E4B789B}"/>
              </a:ext>
            </a:extLst>
          </p:cNvPr>
          <p:cNvSpPr/>
          <p:nvPr/>
        </p:nvSpPr>
        <p:spPr>
          <a:xfrm>
            <a:off x="6223000" y="1397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US" sz="1150" b="1">
                <a:solidFill>
                  <a:srgbClr val="00C49F"/>
                </a:solidFill>
                <a:latin typeface="Segoe UI" panose="020B0502040204020203" pitchFamily="34" charset="0"/>
              </a:rPr>
              <a:t>🏗️  DEDICATED STUN/TURN RELAY NODES
</a:t>
            </a:r>
            <a:r>
              <a:rPr lang="en-US" sz="1000">
                <a:solidFill>
                  <a:srgbClr val="A0AEC0"/>
                </a:solidFill>
                <a:latin typeface="Segoe UI" panose="020B0502040204020203" pitchFamily="34" charset="0"/>
              </a:rPr>
              <a:t>
• Distributed high-throughput STUN/TURN servers to traverse strict carrier-grade NATs.
• Critical for establishing peer-to-peer WebRTC calls over Indian mobile 4G/5G carriers.
• Automated geographical DNS routing to the nearest regional relay server.</a:t>
            </a:r>
            <a:endParaRPr lang="en-IN" sz="1000">
              <a:solidFill>
                <a:srgbClr val="A0AEC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3C51665B-17C4-6B11-C783-09C6C910527B}"/>
              </a:ext>
            </a:extLst>
          </p:cNvPr>
          <p:cNvSpPr/>
          <p:nvPr/>
        </p:nvSpPr>
        <p:spPr>
          <a:xfrm>
            <a:off x="635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C300"/>
                </a:solidFill>
                <a:latin typeface="Segoe UI" panose="020B0502040204020203" pitchFamily="34" charset="0"/>
              </a:rPr>
              <a:t>🏗️  HARDWARE SECURITY MODULES (HSM)
</a:t>
            </a:r>
            <a:r>
              <a:rPr lang="en-IN" sz="1000">
                <a:solidFill>
                  <a:srgbClr val="A0AEC0"/>
                </a:solidFill>
                <a:latin typeface="Segoe UI" panose="020B0502040204020203" pitchFamily="34" charset="0"/>
              </a:rPr>
              <a:t>
• Enterprise-grade HSMs for cryptographic key management and identity attestation.
• Integration with Android StrongBox and Keystore hardware security chips.
• Digital Public Infrastructure (DPI) compliance: Aadhaar e-Sign &amp; DigiLocker readiness.</a:t>
            </a:r>
          </a:p>
        </p:txBody>
      </p:sp>
      <p:sp>
        <p:nvSpPr>
          <p:cNvPr id="11" name="Rectangle: Rounded Corners 10">
            <a:extLst>
              <a:ext uri="{FF2B5EF4-FFF2-40B4-BE49-F238E27FC236}">
                <a16:creationId xmlns:a16="http://schemas.microsoft.com/office/drawing/2014/main" id="{9F5F2FAB-28B5-9188-FC6C-B5728B75D7CF}"/>
              </a:ext>
            </a:extLst>
          </p:cNvPr>
          <p:cNvSpPr/>
          <p:nvPr/>
        </p:nvSpPr>
        <p:spPr>
          <a:xfrm>
            <a:off x="6223000" y="3810000"/>
            <a:ext cx="5334000" cy="2222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50" b="1">
                <a:solidFill>
                  <a:srgbClr val="FF7F11"/>
                </a:solidFill>
                <a:latin typeface="Segoe UI" panose="020B0502040204020203" pitchFamily="34" charset="0"/>
              </a:rPr>
              <a:t>🏗️  HYPER-LOCAL IOT BLUETOOTH BEACONS
</a:t>
            </a:r>
            <a:r>
              <a:rPr lang="en-IN" sz="1000">
                <a:solidFill>
                  <a:srgbClr val="A0AEC0"/>
                </a:solidFill>
                <a:latin typeface="Segoe UI" panose="020B0502040204020203" pitchFamily="34" charset="0"/>
              </a:rPr>
              <a:t>
• Low-cost, solar-assisted Bluetooth Low Energy (BLE) micro-beacons.
• Piloted across local grain mandis, bus terminals, and panchayat halls.
• Broadcasts hyper-local civic notices, mandi commodity rates, and emergency bulletins.</a:t>
            </a:r>
          </a:p>
        </p:txBody>
      </p:sp>
    </p:spTree>
    <p:extLst>
      <p:ext uri="{BB962C8B-B14F-4D97-AF65-F5344CB8AC3E}">
        <p14:creationId xmlns:p14="http://schemas.microsoft.com/office/powerpoint/2010/main" val="1679372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5BB296-D04A-A571-EB89-F424DE530A1D}"/>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2238153-8384-D0E9-9D4A-7FDF33D36503}"/>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MARKET POTENTIAL</a:t>
            </a:r>
          </a:p>
        </p:txBody>
      </p:sp>
      <p:sp>
        <p:nvSpPr>
          <p:cNvPr id="4" name="TextBox 3">
            <a:extLst>
              <a:ext uri="{FF2B5EF4-FFF2-40B4-BE49-F238E27FC236}">
                <a16:creationId xmlns:a16="http://schemas.microsoft.com/office/drawing/2014/main" id="{9DB79C2B-E090-2FE5-1162-810C4B8170C6}"/>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Market Opportunity: The Next Billion Users &amp; National Impact</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AC02CF75-0643-9136-7771-EFB5A0BBE706}"/>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13 / 16</a:t>
            </a:r>
          </a:p>
        </p:txBody>
      </p:sp>
      <p:sp>
        <p:nvSpPr>
          <p:cNvPr id="6" name="Rectangle 5">
            <a:extLst>
              <a:ext uri="{FF2B5EF4-FFF2-40B4-BE49-F238E27FC236}">
                <a16:creationId xmlns:a16="http://schemas.microsoft.com/office/drawing/2014/main" id="{B088CB9D-C6A8-C81D-E9B8-D2822460224E}"/>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A6309E7-BF88-D01F-693D-AC3AB71880B8}"/>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35DD21AE-BF7C-AB38-5ECE-673FC64D2FEF}"/>
              </a:ext>
            </a:extLst>
          </p:cNvPr>
          <p:cNvSpPr/>
          <p:nvPr/>
        </p:nvSpPr>
        <p:spPr>
          <a:xfrm>
            <a:off x="635000" y="1397000"/>
            <a:ext cx="3556000" cy="1460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52400" tIns="152400" rIns="152400" bIns="152400" rtlCol="0" anchor="ctr"/>
          <a:lstStyle/>
          <a:p>
            <a:pPr algn="ctr"/>
            <a:r>
              <a:rPr lang="en-US" sz="1300" b="1">
                <a:solidFill>
                  <a:srgbClr val="00B4D8"/>
                </a:solidFill>
                <a:latin typeface="Segoe UI" panose="020B0502040204020203" pitchFamily="34" charset="0"/>
              </a:rPr>
              <a:t>TAM: 850M+ USERS
</a:t>
            </a:r>
            <a:r>
              <a:rPr lang="en-US" sz="1000">
                <a:solidFill>
                  <a:srgbClr val="A0AEC0"/>
                </a:solidFill>
                <a:latin typeface="Segoe UI" panose="020B0502040204020203" pitchFamily="34" charset="0"/>
              </a:rPr>
              <a:t>
Total Addressable Market
India has 850M+ active smartphone users.
$35B+ hyper-local commerce &amp; digital services ecosystem by 2028.</a:t>
            </a:r>
            <a:endParaRPr lang="en-IN" sz="1000">
              <a:solidFill>
                <a:srgbClr val="A0AEC0"/>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45D1F8E9-CE6D-ED79-8AB4-C2933A9BB06D}"/>
              </a:ext>
            </a:extLst>
          </p:cNvPr>
          <p:cNvSpPr/>
          <p:nvPr/>
        </p:nvSpPr>
        <p:spPr>
          <a:xfrm>
            <a:off x="4356100" y="1397000"/>
            <a:ext cx="3556000" cy="1460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52400" tIns="152400" rIns="152400" bIns="152400" rtlCol="0" anchor="ctr"/>
          <a:lstStyle/>
          <a:p>
            <a:pPr algn="ctr"/>
            <a:r>
              <a:rPr lang="en-US" sz="1300" b="1">
                <a:solidFill>
                  <a:srgbClr val="FFC300"/>
                </a:solidFill>
                <a:latin typeface="Segoe UI" panose="020B0502040204020203" pitchFamily="34" charset="0"/>
              </a:rPr>
              <a:t>SAM: 500M+ VERNACULAR
</a:t>
            </a:r>
            <a:r>
              <a:rPr lang="en-US" sz="1000">
                <a:solidFill>
                  <a:srgbClr val="A0AEC0"/>
                </a:solidFill>
                <a:latin typeface="Segoe UI" panose="020B0502040204020203" pitchFamily="34" charset="0"/>
              </a:rPr>
              <a:t>
Serviceable Addressable Market
Citizens in Tier 2, 3, 4 towns &amp; rural areas who need lightweight, vernacular, offline-first tools.</a:t>
            </a:r>
            <a:endParaRPr lang="en-IN" sz="1000">
              <a:solidFill>
                <a:srgbClr val="A0AEC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A6D37F57-CBB4-3A89-80C2-F7137622AE97}"/>
              </a:ext>
            </a:extLst>
          </p:cNvPr>
          <p:cNvSpPr/>
          <p:nvPr/>
        </p:nvSpPr>
        <p:spPr>
          <a:xfrm>
            <a:off x="8077200" y="1397000"/>
            <a:ext cx="3556000" cy="1460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52400" tIns="152400" rIns="152400" bIns="152400" rtlCol="0" anchor="ctr"/>
          <a:lstStyle/>
          <a:p>
            <a:pPr algn="ctr"/>
            <a:r>
              <a:rPr lang="en-US" sz="1300" b="1">
                <a:solidFill>
                  <a:srgbClr val="00C49F"/>
                </a:solidFill>
                <a:latin typeface="Segoe UI" panose="020B0502040204020203" pitchFamily="34" charset="0"/>
              </a:rPr>
              <a:t>SOM: 25M CITIZENS (24 MO)
</a:t>
            </a:r>
            <a:r>
              <a:rPr lang="en-US" sz="1000">
                <a:solidFill>
                  <a:srgbClr val="A0AEC0"/>
                </a:solidFill>
                <a:latin typeface="Segoe UI" panose="020B0502040204020203" pitchFamily="34" charset="0"/>
              </a:rPr>
              <a:t>
Serviceable Obtainable Market
Targeting 25 Million active users across 15 concentrated regional business &amp; agrarian clusters.</a:t>
            </a:r>
            <a:endParaRPr lang="en-IN" sz="1000">
              <a:solidFill>
                <a:srgbClr val="A0AEC0"/>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2EC3BA3B-45E3-9455-BE01-5586AE2E9B13}"/>
              </a:ext>
            </a:extLst>
          </p:cNvPr>
          <p:cNvSpPr/>
          <p:nvPr/>
        </p:nvSpPr>
        <p:spPr>
          <a:xfrm>
            <a:off x="635000" y="3048000"/>
            <a:ext cx="10922000" cy="3175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28600" tIns="228600" rIns="228600" bIns="228600" rtlCol="0" anchor="ctr"/>
          <a:lstStyle/>
          <a:p>
            <a:pPr algn="ctr"/>
            <a:r>
              <a:rPr lang="en-IN" sz="1250" b="1">
                <a:solidFill>
                  <a:srgbClr val="FF7F11"/>
                </a:solidFill>
                <a:latin typeface="Segoe UI" panose="020B0502040204020203" pitchFamily="34" charset="0"/>
              </a:rPr>
              <a:t>🇮🇳  NATIONAL STRATEGIC ALIGNMENT &amp; SOCIETAL IMPACT
</a:t>
            </a:r>
            <a:r>
              <a:rPr lang="en-IN" sz="1050">
                <a:solidFill>
                  <a:srgbClr val="A0AEC0"/>
                </a:solidFill>
                <a:latin typeface="Segoe UI" panose="020B0502040204020203" pitchFamily="34" charset="0"/>
              </a:rPr>
              <a:t>
• ATMANIRBHAR BHARAT (DIGITAL SOVEREIGNTY): Fosters domestic technological self-reliance, eliminating dangerous dependencies on foreign social network monopolies that manipulate data and compromise digital sovereignty.
• DISASTER RESILIENCE &amp; CIVIC SAFETY: Peer-to-peer mesh networking ensures uninterrupted community communication during natural catastrophes (floods, cyclones, earthquakes) when cellular infrastructure collapses.
• INCLUSIVE ECONOMIC MULTIPLIER: Directly connects rural artisans, informal micro-workers, repairmen, and local merchants with neighborhood consumers without crippling commission middleman fees.
• DIGITAL PUBLIC INFRASTRUCTURE (DPI) INTEGRATION: Architected for seamless interoperability with India Stack: UPI 2.0 micro-payments, ONDC commerce, DigiLocker verified identity, and Bhashini AI translation.</a:t>
            </a:r>
          </a:p>
        </p:txBody>
      </p:sp>
    </p:spTree>
    <p:extLst>
      <p:ext uri="{BB962C8B-B14F-4D97-AF65-F5344CB8AC3E}">
        <p14:creationId xmlns:p14="http://schemas.microsoft.com/office/powerpoint/2010/main" val="821631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CE88FF-0EE7-F7AE-2301-A2C453DB77E6}"/>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0B236A7-88F8-F65F-8CC5-87AAA6370B1C}"/>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BUSINESS MODELS</a:t>
            </a:r>
          </a:p>
        </p:txBody>
      </p:sp>
      <p:sp>
        <p:nvSpPr>
          <p:cNvPr id="4" name="TextBox 3">
            <a:extLst>
              <a:ext uri="{FF2B5EF4-FFF2-40B4-BE49-F238E27FC236}">
                <a16:creationId xmlns:a16="http://schemas.microsoft.com/office/drawing/2014/main" id="{885B7D6D-9B3C-BF89-9E2E-EA2E3F4C52DE}"/>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Monetization Engine: Three Distinct, Sustainable Business Models</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D1874FCD-65D5-4D64-AD7E-EC669D6F646D}"/>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14 / 16</a:t>
            </a:r>
          </a:p>
        </p:txBody>
      </p:sp>
      <p:sp>
        <p:nvSpPr>
          <p:cNvPr id="6" name="Rectangle 5">
            <a:extLst>
              <a:ext uri="{FF2B5EF4-FFF2-40B4-BE49-F238E27FC236}">
                <a16:creationId xmlns:a16="http://schemas.microsoft.com/office/drawing/2014/main" id="{79770EDB-0E4B-4D98-9301-8AA29565DE98}"/>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5A8197F-6983-BC13-76C1-780335512A44}"/>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D0C5BA21-C10B-693D-B02B-007142FDAF51}"/>
              </a:ext>
            </a:extLst>
          </p:cNvPr>
          <p:cNvSpPr/>
          <p:nvPr/>
        </p:nvSpPr>
        <p:spPr>
          <a:xfrm>
            <a:off x="635000" y="1397000"/>
            <a:ext cx="35560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20" b="1">
                <a:solidFill>
                  <a:srgbClr val="00B4D8"/>
                </a:solidFill>
                <a:latin typeface="Segoe UI" panose="020B0502040204020203" pitchFamily="34" charset="0"/>
              </a:rPr>
              <a:t>💼  MODEL 1: HYPER-LOCAL MERCHANT </a:t>
            </a:r>
            <a:r>
              <a:rPr lang="en-IN" sz="980" b="1">
                <a:solidFill>
                  <a:srgbClr val="FFFFFF"/>
                </a:solidFill>
                <a:latin typeface="Segoe UI" panose="020B0502040204020203" pitchFamily="34" charset="0"/>
              </a:rPr>
              <a:t>ENGINE
</a:t>
            </a:r>
            <a:r>
              <a:rPr lang="en-IN" sz="920">
                <a:solidFill>
                  <a:srgbClr val="A0AEC0"/>
                </a:solidFill>
                <a:latin typeface="Segoe UI" panose="020B0502040204020203" pitchFamily="34" charset="0"/>
              </a:rPr>
              <a:t>B2B Subscription &amp; Promoted Discovery
• Target: Neighborhood shops, tuition teachers, clinics, local services.
• Promoted Radar Listings: Priority highlight in 1km/5km/10km radar scans.
• Verified Merchant Gold Badge: Builds consumer trust and authenticity.
• Sponsored Story Highlights: Local story broadcast to neighborhood radius.
• Pricing: Affordable tiered subscription:
   - Basic: Free (Listing only)
   - Silver: ₹299 / month (Radar Boost)
   - Gold: ₹699 / month (Stories &amp; Analytics)
• High margin, zero inventory holding.</a:t>
            </a:r>
          </a:p>
        </p:txBody>
      </p:sp>
      <p:sp>
        <p:nvSpPr>
          <p:cNvPr id="9" name="Rectangle: Rounded Corners 8">
            <a:extLst>
              <a:ext uri="{FF2B5EF4-FFF2-40B4-BE49-F238E27FC236}">
                <a16:creationId xmlns:a16="http://schemas.microsoft.com/office/drawing/2014/main" id="{FB3005BD-780C-1A5B-CCBD-2BBFBD039CBA}"/>
              </a:ext>
            </a:extLst>
          </p:cNvPr>
          <p:cNvSpPr/>
          <p:nvPr/>
        </p:nvSpPr>
        <p:spPr>
          <a:xfrm>
            <a:off x="4356100" y="1397000"/>
            <a:ext cx="35560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20" b="1">
                <a:solidFill>
                  <a:srgbClr val="00C49F"/>
                </a:solidFill>
                <a:latin typeface="Segoe UI" panose="020B0502040204020203" pitchFamily="34" charset="0"/>
              </a:rPr>
              <a:t>💼  MODEL 2: QUICK-GIG ESCROW </a:t>
            </a:r>
            <a:r>
              <a:rPr lang="en-IN" sz="980" b="1">
                <a:solidFill>
                  <a:srgbClr val="FFFFFF"/>
                </a:solidFill>
                <a:latin typeface="Segoe UI" panose="020B0502040204020203" pitchFamily="34" charset="0"/>
              </a:rPr>
              <a:t>ENGINE
</a:t>
            </a:r>
            <a:r>
              <a:rPr lang="en-IN" sz="920">
                <a:solidFill>
                  <a:srgbClr val="A0AEC0"/>
                </a:solidFill>
                <a:latin typeface="Segoe UI" panose="020B0502040204020203" pitchFamily="34" charset="0"/>
              </a:rPr>
              <a:t>Platform Take-Rate on Micro-Transactions
• Target: Informal workers, plumbers, electricians, drivers, daily helpers.
• Automated UPI Escrow: Employer locks payment; released instantly upon completion.
• Low Platform Take-Rate: 2%–3% commission (vs. 20%–30% on traditional aggregators).
• Premium Recruiter Listings: Local businesses pay ₹99–₹249 to feature urgent job openings.
• Transparent Dispute Resolution: Instant refunds and verified completion proof.
• Massive transaction volume velocity.</a:t>
            </a:r>
          </a:p>
        </p:txBody>
      </p:sp>
      <p:sp>
        <p:nvSpPr>
          <p:cNvPr id="10" name="Rectangle: Rounded Corners 9">
            <a:extLst>
              <a:ext uri="{FF2B5EF4-FFF2-40B4-BE49-F238E27FC236}">
                <a16:creationId xmlns:a16="http://schemas.microsoft.com/office/drawing/2014/main" id="{A3B262AA-7064-8256-3F00-319271E461CA}"/>
              </a:ext>
            </a:extLst>
          </p:cNvPr>
          <p:cNvSpPr/>
          <p:nvPr/>
        </p:nvSpPr>
        <p:spPr>
          <a:xfrm>
            <a:off x="8077200" y="1397000"/>
            <a:ext cx="3556000" cy="4889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120" b="1">
                <a:solidFill>
                  <a:srgbClr val="FFC300"/>
                </a:solidFill>
                <a:latin typeface="Segoe UI" panose="020B0502040204020203" pitchFamily="34" charset="0"/>
              </a:rPr>
              <a:t>💼  MODEL 3: ENTERPRISE &amp; CIVIC SAAS
</a:t>
            </a:r>
            <a:r>
              <a:rPr lang="en-IN" sz="980" b="1">
                <a:solidFill>
                  <a:srgbClr val="FFFFFF"/>
                </a:solidFill>
                <a:latin typeface="Segoe UI" panose="020B0502040204020203" pitchFamily="34" charset="0"/>
              </a:rPr>
              <a:t>B2G &amp; B2B Gated Mesh Subscriptions
</a:t>
            </a:r>
            <a:r>
              <a:rPr lang="en-IN" sz="920">
                <a:solidFill>
                  <a:srgbClr val="A0AEC0"/>
                </a:solidFill>
                <a:latin typeface="Segoe UI" panose="020B0502040204020203" pitchFamily="34" charset="0"/>
              </a:rPr>
              <a:t>
• Target: Gated societies (RWAs), colleges, factories, Gram Panchayats.
• Private Community Hubs: Dedicated admin panels, gatekeeper approvals, visitor passes.
• Civic Emergency Broadcasts: Municipal alerts &amp; disaster broadcast sirens.
• White-Label Enterprise Mesh: Secure intranet communications for off-grid industrial sites.
• Pricing: Predictable recurring SaaS:
   - RWAs/Societies: ₹2,500 - ₹5,000 / mo
   - Institutions/Panchayats: ₹10,000+ / mo.</a:t>
            </a:r>
          </a:p>
        </p:txBody>
      </p:sp>
    </p:spTree>
    <p:extLst>
      <p:ext uri="{BB962C8B-B14F-4D97-AF65-F5344CB8AC3E}">
        <p14:creationId xmlns:p14="http://schemas.microsoft.com/office/powerpoint/2010/main" val="316089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7BC9B1-E4E6-9DE4-AC11-23D4737B8BB9}"/>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7319082-687D-235D-EA91-C6C8E180564B}"/>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FINANCIAL PROJECTIONS</a:t>
            </a:r>
          </a:p>
        </p:txBody>
      </p:sp>
      <p:sp>
        <p:nvSpPr>
          <p:cNvPr id="4" name="TextBox 3">
            <a:extLst>
              <a:ext uri="{FF2B5EF4-FFF2-40B4-BE49-F238E27FC236}">
                <a16:creationId xmlns:a16="http://schemas.microsoft.com/office/drawing/2014/main" id="{16F5246F-8915-F1D5-F848-E5CA334D50A5}"/>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Financial Projections: 3-Year Trajectory &amp; Robust Unit Economics</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C4DA4808-E1AE-3DEE-F236-5BF3697DFC2B}"/>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15 / 16</a:t>
            </a:r>
          </a:p>
        </p:txBody>
      </p:sp>
      <p:sp>
        <p:nvSpPr>
          <p:cNvPr id="6" name="Rectangle 5">
            <a:extLst>
              <a:ext uri="{FF2B5EF4-FFF2-40B4-BE49-F238E27FC236}">
                <a16:creationId xmlns:a16="http://schemas.microsoft.com/office/drawing/2014/main" id="{E27F0327-EE87-84AC-85C8-EF64CBB84312}"/>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95ABA3B5-2969-3981-D69B-CA8F402024FB}"/>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49768E95-3B89-A5BA-3CD8-6CFAE359E8CF}"/>
              </a:ext>
            </a:extLst>
          </p:cNvPr>
          <p:cNvSpPr/>
          <p:nvPr/>
        </p:nvSpPr>
        <p:spPr>
          <a:xfrm>
            <a:off x="635000" y="1397000"/>
            <a:ext cx="3556000" cy="1651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US" sz="1180" b="1">
                <a:solidFill>
                  <a:srgbClr val="00B4D8"/>
                </a:solidFill>
                <a:latin typeface="Segoe UI" panose="020B0502040204020203" pitchFamily="34" charset="0"/>
              </a:rPr>
              <a:t>📈  YEAR 1 (PILOT CLUSTERS)
</a:t>
            </a:r>
            <a:r>
              <a:rPr lang="en-US" sz="1020">
                <a:solidFill>
                  <a:srgbClr val="A0AEC0"/>
                </a:solidFill>
                <a:latin typeface="Segoe UI" panose="020B0502040204020203" pitchFamily="34" charset="0"/>
              </a:rPr>
              <a:t>
500,000 Active Users
12,000 Paid Merchants
₹1.8 Crore ARR ($220K)
Gross Margin: 72%
Focus: 5 High-Density Tier-2 Districts</a:t>
            </a:r>
            <a:endParaRPr lang="en-IN" sz="1020">
              <a:solidFill>
                <a:srgbClr val="A0AEC0"/>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77DE2973-0626-9CA2-03F9-0F423A6F6265}"/>
              </a:ext>
            </a:extLst>
          </p:cNvPr>
          <p:cNvSpPr/>
          <p:nvPr/>
        </p:nvSpPr>
        <p:spPr>
          <a:xfrm>
            <a:off x="4356100" y="1397000"/>
            <a:ext cx="3556000" cy="1651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US" sz="1180" b="1">
                <a:solidFill>
                  <a:srgbClr val="FFC300"/>
                </a:solidFill>
                <a:latin typeface="Segoe UI" panose="020B0502040204020203" pitchFamily="34" charset="0"/>
              </a:rPr>
              <a:t>📈  YEAR 2 (REGIONAL SCALE)
</a:t>
            </a:r>
            <a:r>
              <a:rPr lang="en-US" sz="1020">
                <a:solidFill>
                  <a:srgbClr val="A0AEC0"/>
                </a:solidFill>
                <a:latin typeface="Segoe UI" panose="020B0502040204020203" pitchFamily="34" charset="0"/>
              </a:rPr>
              <a:t>
3,500,000 Active Users
85,000 Paid Merchants
₹14.5 Crore ARR ($1.75M)
Gross Margin: 78%
Focus: Escrow Scaling &amp; Vernacular AI</a:t>
            </a:r>
            <a:endParaRPr lang="en-IN" sz="1020">
              <a:solidFill>
                <a:srgbClr val="A0AEC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F6B3E08E-179A-8D8B-77B7-80DDDBE490F3}"/>
              </a:ext>
            </a:extLst>
          </p:cNvPr>
          <p:cNvSpPr/>
          <p:nvPr/>
        </p:nvSpPr>
        <p:spPr>
          <a:xfrm>
            <a:off x="8077200" y="1397000"/>
            <a:ext cx="3556000" cy="1651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IN" sz="1180" b="1">
                <a:solidFill>
                  <a:srgbClr val="00C49F"/>
                </a:solidFill>
                <a:latin typeface="Segoe UI" panose="020B0502040204020203" pitchFamily="34" charset="0"/>
              </a:rPr>
              <a:t>📈  YEAR 3 (PAN-INDIA EXPANSION)
</a:t>
            </a:r>
            <a:r>
              <a:rPr lang="en-IN" sz="1020">
                <a:solidFill>
                  <a:srgbClr val="A0AEC0"/>
                </a:solidFill>
                <a:latin typeface="Segoe UI" panose="020B0502040204020203" pitchFamily="34" charset="0"/>
              </a:rPr>
              <a:t>
15,000,000 Active Users
350,000 Paid Merchants
₹68.0 Crore ARR ($8.2M)
Gross Margin: 82%
Focus: Civic SaaS &amp; National Mesh Network</a:t>
            </a:r>
          </a:p>
        </p:txBody>
      </p:sp>
      <p:sp>
        <p:nvSpPr>
          <p:cNvPr id="11" name="Rectangle: Rounded Corners 10">
            <a:extLst>
              <a:ext uri="{FF2B5EF4-FFF2-40B4-BE49-F238E27FC236}">
                <a16:creationId xmlns:a16="http://schemas.microsoft.com/office/drawing/2014/main" id="{5002841D-13E9-1B99-5933-CBF2ECFAB745}"/>
              </a:ext>
            </a:extLst>
          </p:cNvPr>
          <p:cNvSpPr/>
          <p:nvPr/>
        </p:nvSpPr>
        <p:spPr>
          <a:xfrm>
            <a:off x="635000" y="3238500"/>
            <a:ext cx="10922000" cy="29845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28600" tIns="228600" rIns="228600" bIns="228600" rtlCol="0" anchor="ctr"/>
          <a:lstStyle/>
          <a:p>
            <a:pPr algn="ctr"/>
            <a:r>
              <a:rPr lang="en-US" sz="1250" b="1">
                <a:solidFill>
                  <a:srgbClr val="FF7F11"/>
                </a:solidFill>
                <a:latin typeface="Segoe UI" panose="020B0502040204020203" pitchFamily="34" charset="0"/>
              </a:rPr>
              <a:t>📊  UNIT ECONOMICS &amp; CAPITAL EFFICIENCY METRICS
</a:t>
            </a:r>
            <a:r>
              <a:rPr lang="en-US" sz="1050">
                <a:solidFill>
                  <a:srgbClr val="A0AEC0"/>
                </a:solidFill>
                <a:latin typeface="Segoe UI" panose="020B0502040204020203" pitchFamily="34" charset="0"/>
              </a:rPr>
              <a:t>
• CUSTOMER ACQUISITION COST (CAC): ~₹16 - ₹22 ($0.20 - $0.27)
   Driven by organic viral loop of Nearby Discovery Radar and hyper-local merchant QR standees in neighborhood shops.
• AVERAGE REVENUE PER USER (ARPU / BLENDED): ~₹145 / Year
   Generated through blended merchant subscriptions, micro-gig transaction fees, and sponsored neighborhood discovery.
• LIFETIME VALUE (LTV) TO CAC RATIO: ~7.5x - 9.0x
   Significantly outperforming typical consumer internet benchmarks due to zero user acquisition ad burn and community retention.
• PATH TO BREAK-EVEN: Expected by Month 18 at 2.2M monthly active users with cash-flow positive operations across active clusters.</a:t>
            </a:r>
            <a:endParaRPr lang="en-IN" sz="1050">
              <a:solidFill>
                <a:srgbClr val="A0AEC0"/>
              </a:solidFill>
              <a:latin typeface="Segoe UI" panose="020B0502040204020203" pitchFamily="34" charset="0"/>
            </a:endParaRPr>
          </a:p>
        </p:txBody>
      </p:sp>
    </p:spTree>
    <p:extLst>
      <p:ext uri="{BB962C8B-B14F-4D97-AF65-F5344CB8AC3E}">
        <p14:creationId xmlns:p14="http://schemas.microsoft.com/office/powerpoint/2010/main" val="60413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6BB3C9-8FB0-DBFE-8BF2-120C0D07A8F9}"/>
              </a:ext>
            </a:extLst>
          </p:cNvPr>
          <p:cNvSpPr/>
          <p:nvPr/>
        </p:nvSpPr>
        <p:spPr>
          <a:xfrm>
            <a:off x="0" y="0"/>
            <a:ext cx="12192000" cy="6858000"/>
          </a:xfrm>
          <a:prstGeom prst="rect">
            <a:avLst/>
          </a:prstGeom>
          <a:solidFill>
            <a:srgbClr val="0A11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B1FEC4C-E473-B45D-4D63-4ABE9A169E6F}"/>
              </a:ext>
            </a:extLst>
          </p:cNvPr>
          <p:cNvSpPr txBox="1"/>
          <p:nvPr/>
        </p:nvSpPr>
        <p:spPr>
          <a:xfrm>
            <a:off x="635000" y="317500"/>
            <a:ext cx="7620000" cy="153888"/>
          </a:xfrm>
          <a:prstGeom prst="rect">
            <a:avLst/>
          </a:prstGeom>
          <a:noFill/>
        </p:spPr>
        <p:txBody>
          <a:bodyPr vert="horz" lIns="0" tIns="0" rIns="0" bIns="0" rtlCol="0">
            <a:spAutoFit/>
          </a:bodyPr>
          <a:lstStyle/>
          <a:p>
            <a:r>
              <a:rPr lang="en-IN" sz="1000" b="1">
                <a:solidFill>
                  <a:srgbClr val="FF7F11"/>
                </a:solidFill>
                <a:latin typeface="Segoe UI" panose="020B0502040204020203" pitchFamily="34" charset="0"/>
              </a:rPr>
              <a:t>SUPPORT &amp; INVESTMENT PROPOSAL</a:t>
            </a:r>
          </a:p>
        </p:txBody>
      </p:sp>
      <p:sp>
        <p:nvSpPr>
          <p:cNvPr id="4" name="TextBox 3">
            <a:extLst>
              <a:ext uri="{FF2B5EF4-FFF2-40B4-BE49-F238E27FC236}">
                <a16:creationId xmlns:a16="http://schemas.microsoft.com/office/drawing/2014/main" id="{CBA69F7F-7390-D926-A98F-5CD5C7A9F2B1}"/>
              </a:ext>
            </a:extLst>
          </p:cNvPr>
          <p:cNvSpPr txBox="1"/>
          <p:nvPr/>
        </p:nvSpPr>
        <p:spPr>
          <a:xfrm>
            <a:off x="635000" y="571500"/>
            <a:ext cx="9525000" cy="338554"/>
          </a:xfrm>
          <a:prstGeom prst="rect">
            <a:avLst/>
          </a:prstGeom>
          <a:noFill/>
        </p:spPr>
        <p:txBody>
          <a:bodyPr vert="horz" lIns="0" tIns="0" rIns="0" bIns="0" rtlCol="0">
            <a:spAutoFit/>
          </a:bodyPr>
          <a:lstStyle/>
          <a:p>
            <a:r>
              <a:rPr lang="en-US" sz="2200" b="1">
                <a:solidFill>
                  <a:srgbClr val="FFFFFF"/>
                </a:solidFill>
                <a:latin typeface="Segoe UI" panose="020B0502040204020203" pitchFamily="34" charset="0"/>
              </a:rPr>
              <a:t>Support &amp; Investment Proposition: Powering the Bharat Revolution</a:t>
            </a:r>
            <a:endParaRPr lang="en-IN" sz="22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11381157-06F3-3EE1-877D-026BCAB80A85}"/>
              </a:ext>
            </a:extLst>
          </p:cNvPr>
          <p:cNvSpPr txBox="1"/>
          <p:nvPr/>
        </p:nvSpPr>
        <p:spPr>
          <a:xfrm>
            <a:off x="10668000" y="317500"/>
            <a:ext cx="889000" cy="169277"/>
          </a:xfrm>
          <a:prstGeom prst="rect">
            <a:avLst/>
          </a:prstGeom>
          <a:noFill/>
        </p:spPr>
        <p:txBody>
          <a:bodyPr vert="horz" lIns="0" tIns="0" rIns="0" bIns="0" rtlCol="0">
            <a:spAutoFit/>
          </a:bodyPr>
          <a:lstStyle/>
          <a:p>
            <a:r>
              <a:rPr lang="en-IN" sz="1100" b="1">
                <a:solidFill>
                  <a:srgbClr val="A0AEC0"/>
                </a:solidFill>
                <a:latin typeface="Segoe UI" panose="020B0502040204020203" pitchFamily="34" charset="0"/>
              </a:rPr>
              <a:t>16 / 16</a:t>
            </a:r>
          </a:p>
        </p:txBody>
      </p:sp>
      <p:sp>
        <p:nvSpPr>
          <p:cNvPr id="6" name="Rectangle 5">
            <a:extLst>
              <a:ext uri="{FF2B5EF4-FFF2-40B4-BE49-F238E27FC236}">
                <a16:creationId xmlns:a16="http://schemas.microsoft.com/office/drawing/2014/main" id="{F6ED5ACB-EF97-78EF-B781-290BEF22FD01}"/>
              </a:ext>
            </a:extLst>
          </p:cNvPr>
          <p:cNvSpPr/>
          <p:nvPr/>
        </p:nvSpPr>
        <p:spPr>
          <a:xfrm>
            <a:off x="635000" y="1168400"/>
            <a:ext cx="10922000" cy="25400"/>
          </a:xfrm>
          <a:prstGeom prst="rect">
            <a:avLst/>
          </a:prstGeom>
          <a:solidFill>
            <a:srgbClr val="2D417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9C5EB303-DEFD-DCE9-099F-7A0AA208542A}"/>
              </a:ext>
            </a:extLst>
          </p:cNvPr>
          <p:cNvSpPr txBox="1"/>
          <p:nvPr/>
        </p:nvSpPr>
        <p:spPr>
          <a:xfrm>
            <a:off x="635000" y="6540500"/>
            <a:ext cx="10922000" cy="138499"/>
          </a:xfrm>
          <a:prstGeom prst="rect">
            <a:avLst/>
          </a:prstGeom>
          <a:noFill/>
        </p:spPr>
        <p:txBody>
          <a:bodyPr vert="horz" lIns="0" tIns="0" rIns="0" bIns="0" rtlCol="0">
            <a:spAutoFit/>
          </a:bodyPr>
          <a:lstStyle/>
          <a:p>
            <a:r>
              <a:rPr lang="en-US" sz="900">
                <a:solidFill>
                  <a:srgbClr val="5A6E91"/>
                </a:solidFill>
                <a:latin typeface="Segoe UI" panose="020B0502040204020203" pitchFamily="34" charset="0"/>
              </a:rPr>
              <a:t>🇮🇳 BharatConnect Confidential • Project Master Presentation &amp; Support Proposal • 2026</a:t>
            </a:r>
            <a:endParaRPr lang="en-IN" sz="900">
              <a:solidFill>
                <a:srgbClr val="5A6E9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3BD7A096-D8F8-7C6D-0F2B-1D72D4868AF3}"/>
              </a:ext>
            </a:extLst>
          </p:cNvPr>
          <p:cNvSpPr/>
          <p:nvPr/>
        </p:nvSpPr>
        <p:spPr>
          <a:xfrm>
            <a:off x="635000" y="1397000"/>
            <a:ext cx="5334000" cy="3556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200" b="1">
                <a:solidFill>
                  <a:srgbClr val="FFC300"/>
                </a:solidFill>
                <a:latin typeface="Segoe UI" panose="020B0502040204020203" pitchFamily="34" charset="0"/>
              </a:rPr>
              <a:t>💰  THE ASK: ₹2.50 CRORE (~$300,000 USD)
</a:t>
            </a:r>
            <a:r>
              <a:rPr lang="en-IN" sz="1000" b="1">
                <a:solidFill>
                  <a:srgbClr val="FFFFFF"/>
                </a:solidFill>
                <a:latin typeface="Segoe UI" panose="020B0502040204020203" pitchFamily="34" charset="0"/>
              </a:rPr>
              <a:t>Seed Capital / Innovation Grant for 18-Month Scale
</a:t>
            </a:r>
            <a:r>
              <a:rPr lang="en-IN" sz="980">
                <a:solidFill>
                  <a:srgbClr val="A0AEC0"/>
                </a:solidFill>
                <a:latin typeface="Segoe UI" panose="020B0502040204020203" pitchFamily="34" charset="0"/>
              </a:rPr>
              <a:t>
• 40% — ENGINEERING &amp; PROTOCOL R&amp;D:
   Decentralized BLE/Wi-Fi mesh routing, Bhashini AI voice integration, WebRTC calling engines.
• 25% — SOVEREIGN INDIAN EDGE INFRASTRUCTURE:
   High-availability cloud clusters, STUN/TURN relays, and cryptographic HSM attestation.
• 20% — PILOT DEPLOYMENTS &amp; MERCHANT ONBOARDING:
   Ground-level rollout in 5 pilot districts with local merchant associations and RWAs.
• 15% — SECURITY AUDITING &amp; LEGAL COMPLIANCE:
   CERT-In security audit, DPI interoperability, and patent filings.</a:t>
            </a:r>
          </a:p>
        </p:txBody>
      </p:sp>
      <p:sp>
        <p:nvSpPr>
          <p:cNvPr id="9" name="Rectangle: Rounded Corners 8">
            <a:extLst>
              <a:ext uri="{FF2B5EF4-FFF2-40B4-BE49-F238E27FC236}">
                <a16:creationId xmlns:a16="http://schemas.microsoft.com/office/drawing/2014/main" id="{B4D58FD8-1F39-FB55-0949-2D1B711CC838}"/>
              </a:ext>
            </a:extLst>
          </p:cNvPr>
          <p:cNvSpPr/>
          <p:nvPr/>
        </p:nvSpPr>
        <p:spPr>
          <a:xfrm>
            <a:off x="6223000" y="1397000"/>
            <a:ext cx="5334000" cy="3556000"/>
          </a:xfrm>
          <a:prstGeom prst="roundRect">
            <a:avLst/>
          </a:prstGeom>
          <a:solidFill>
            <a:srgbClr val="121E42"/>
          </a:solidFill>
          <a:ln w="12700">
            <a:solidFill>
              <a:srgbClr val="2D417D"/>
            </a:solidFill>
          </a:ln>
        </p:spPr>
        <p:style>
          <a:lnRef idx="2">
            <a:schemeClr val="accent1">
              <a:shade val="15000"/>
            </a:schemeClr>
          </a:lnRef>
          <a:fillRef idx="1">
            <a:schemeClr val="accent1"/>
          </a:fillRef>
          <a:effectRef idx="0">
            <a:schemeClr val="accent1"/>
          </a:effectRef>
          <a:fontRef idx="minor">
            <a:schemeClr val="lt1"/>
          </a:fontRef>
        </p:style>
        <p:txBody>
          <a:bodyPr lIns="203200" tIns="203200" rIns="203200" bIns="203200" rtlCol="0" anchor="ctr"/>
          <a:lstStyle/>
          <a:p>
            <a:pPr algn="ctr"/>
            <a:r>
              <a:rPr lang="en-IN" sz="1200" b="1">
                <a:solidFill>
                  <a:srgbClr val="00C49F"/>
                </a:solidFill>
                <a:latin typeface="Segoe UI" panose="020B0502040204020203" pitchFamily="34" charset="0"/>
              </a:rPr>
              <a:t>🎯  PROJECTED 18-MONTH IMPACT &amp; DELIVERABLES
</a:t>
            </a:r>
            <a:r>
              <a:rPr lang="en-IN" sz="1000" b="1">
                <a:solidFill>
                  <a:srgbClr val="FFFFFF"/>
                </a:solidFill>
                <a:latin typeface="Segoe UI" panose="020B0502040204020203" pitchFamily="34" charset="0"/>
              </a:rPr>
              <a:t>Key Milestone Outcomes from Funding
</a:t>
            </a:r>
            <a:r>
              <a:rPr lang="en-IN" sz="1000">
                <a:solidFill>
                  <a:srgbClr val="A0AEC0"/>
                </a:solidFill>
                <a:latin typeface="Segoe UI" panose="020B0502040204020203" pitchFamily="34" charset="0"/>
              </a:rPr>
              <a:t>
• 2,500,000+ Verified Registered Citizens across target Tier 2/3 clusters.
• 60,000+ Hyper-Local Merchants active on the Radar &amp; Marketplace.
• 1,200,000+ Completed Quick Gigs with guaranteed instant UPI escrow payouts.
• Certified Zero-Internet Disaster Mesh Protocol validated in disaster drills.
• 22 Scheduled Indian Languages supported with real-time voice and text.</a:t>
            </a:r>
          </a:p>
        </p:txBody>
      </p:sp>
      <p:sp>
        <p:nvSpPr>
          <p:cNvPr id="10" name="Rectangle: Rounded Corners 9">
            <a:extLst>
              <a:ext uri="{FF2B5EF4-FFF2-40B4-BE49-F238E27FC236}">
                <a16:creationId xmlns:a16="http://schemas.microsoft.com/office/drawing/2014/main" id="{0318CF04-7F5B-B6C9-2159-AFFBF256B9DA}"/>
              </a:ext>
            </a:extLst>
          </p:cNvPr>
          <p:cNvSpPr/>
          <p:nvPr/>
        </p:nvSpPr>
        <p:spPr>
          <a:xfrm>
            <a:off x="635000" y="5143500"/>
            <a:ext cx="10922000" cy="1079500"/>
          </a:xfrm>
          <a:prstGeom prst="roundRect">
            <a:avLst/>
          </a:prstGeom>
          <a:solidFill>
            <a:srgbClr val="1C2D60"/>
          </a:solidFill>
          <a:ln w="19050">
            <a:solidFill>
              <a:srgbClr val="FF7F11"/>
            </a:solidFill>
          </a:ln>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77800" rtlCol="0" anchor="ctr"/>
          <a:lstStyle/>
          <a:p>
            <a:pPr algn="ctr"/>
            <a:r>
              <a:rPr lang="en-US" sz="1200" b="1">
                <a:solidFill>
                  <a:srgbClr val="FF7F11"/>
                </a:solidFill>
                <a:latin typeface="Segoe UI" panose="020B0502040204020203" pitchFamily="34" charset="0"/>
              </a:rPr>
              <a:t>JOIN US IN BUILDING INDIA'S SOVEREIGN DIGITAL FUTURE
</a:t>
            </a:r>
            <a:r>
              <a:rPr lang="en-US" sz="1000">
                <a:solidFill>
                  <a:srgbClr val="FFFFFF"/>
                </a:solidFill>
                <a:latin typeface="Segoe UI" panose="020B0502040204020203" pitchFamily="34" charset="0"/>
              </a:rPr>
              <a:t>BharatConnect transforms how Indian communities communicate, trade, and empower one another. With your support, we will bridge the digital divide and build an unshakeable, self-reliant communication backbone for the nation.
Contact &amp; Repository: github.com/Vipinrkv/BharatConnect • Standalone APK: BharatConnect-Native.apk</a:t>
            </a:r>
            <a:endParaRPr lang="en-IN" sz="1000">
              <a:solidFill>
                <a:srgbClr val="FFFFFF"/>
              </a:solidFill>
              <a:latin typeface="Segoe UI" panose="020B0502040204020203" pitchFamily="34" charset="0"/>
            </a:endParaRPr>
          </a:p>
        </p:txBody>
      </p:sp>
    </p:spTree>
    <p:extLst>
      <p:ext uri="{BB962C8B-B14F-4D97-AF65-F5344CB8AC3E}">
        <p14:creationId xmlns:p14="http://schemas.microsoft.com/office/powerpoint/2010/main" val="2137691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3992</Words>
  <Application>Microsoft Office PowerPoint</Application>
  <PresentationFormat>Custom</PresentationFormat>
  <Paragraphs>130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Vipin Vishwakarma</dc:creator>
  <cp:lastModifiedBy>Vipin Vishwakarma</cp:lastModifiedBy>
  <cp:revision>1</cp:revision>
  <dcterms:created xsi:type="dcterms:W3CDTF">2026-09-20T16:05:08Z</dcterms:created>
  <dcterms:modified xsi:type="dcterms:W3CDTF">2026-09-20T16:05:09Z</dcterms:modified>
</cp:coreProperties>
</file>